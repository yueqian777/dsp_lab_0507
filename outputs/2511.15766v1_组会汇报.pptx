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开场先给结论：这篇论文不是单纯增加滤波器阶数，而是重新安排子带滤波器的位置，使满带建模自由度恢复。来源：论文摘要与引言。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这一节提出组会需要回答的问题：传统 WOLA 为什么有效率但不够准确？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 Fig. 1：传统 WOLA 把子带滤波放在降采样率。强调稀疏 Cₖ(zᴰ) 结构带来的零系数。图中原型滤波器来自论文 Fig.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这里把瓶颈归纳为失真和混叠两类，并说明论文的理论分析要把 T、L、D 和原型滤波器放在同一框架中。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过渡到方法：论文的贡献不是另加一个补丁，而是把滤波器重新放回满速率路径。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 Fig. 2：广义 WOLA 的核心是 Cₖ(z) 不再被稀疏化。然后立刻指出计算代价是每帧 T 次窗口化 IDFT。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解释理论结论时只需抓住四个变量。重点不是记公式，而是理解性能由建模自由度、系统长度、抽取和原型滤波器共同塑造。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 Fig. 3：PT-WOLA 用一次 IDFT、差分项和 cross-terms 近似窗口化输入。R 是可调旋钮，决定 aliasing 与 distortion 的折中。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实验部分先说明评价环境：AEC 是一个具有长 RIR 的实际系统辨识场景。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讲参数与评价指标，说明为什么同时看 system distance 和 ERLE：前者看模型像不像真实 RIR，后者看回声压制效果。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先看 generalized WOLA：T 增大带来更好的 system distance / ERLE，minimum-distortion synthesis 更稳定。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最后比较 PT-WOLA：合适的 cross-terms 可以在接近传统复杂度下追平 generalized WOLA；原型窗决定需要多少项。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收束到三句话：释放自由度、量化误差来源、用 PT-WOLA 重新获得可部署性。最后可引出多通道空间滤波的后续方向。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1CB768-1012-49E7-9EE0-0F5499732D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9D7093-E799-4AE8-BEF7-78E2D4074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3634B1-EDA8-42DD-9F26-D18606B82AC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ED91A-658F-42E5-AFBD-137E3BE06122}" type="datetimeFigureOut">
              <a:t>2026/7/12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7936C5-3697-4EE2-882E-29068D7C09B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FA3E99-33AD-4AF2-B657-C2BF93D22E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16F61D6-99EB-4360-9767-4572D66DC0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41B5-E36C-4E4B-8096-8A823B051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56E141-AF82-484F-9F04-DBF447975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A8DA54-B631-448F-8584-02A20BF8F7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ED91A-658F-42E5-AFBD-137E3BE06122}" type="datetimeFigureOut">
              <a:t>2026/7/12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B3EB75-EE12-40B6-BCD3-63257E2026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F45358-B6AE-464F-A8A2-1053C5666F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16F61D6-99EB-4360-9767-4572D66DC0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557DF-C2C5-4ED4-B609-C2CED8FEC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39BF82-7C8B-41C7-8C62-093893083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E82FD0-FBF8-4315-A712-3C05E5D8C20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ED91A-658F-42E5-AFBD-137E3BE06122}" type="datetimeFigureOut">
              <a:t>2026/7/12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57E8BC-25B3-48AE-859E-FBA3199A52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BD70F0-4B3E-4FD9-83EE-5AEE802215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16F61D6-99EB-4360-9767-4572D66DC0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3EAAD-B971-4770-8651-3248445B3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1C9454-9F9A-4632-AE99-B82D4B7BF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88A1DD-2D7D-4F0F-B09B-D70693BDCBD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C44F88-3E5F-4A0E-83D1-2184127FCB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ED91A-658F-42E5-AFBD-137E3BE06122}" type="datetimeFigureOut">
              <a:t>2026/7/12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B8D215-EA4D-46C4-9C00-A25E3CB59B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B77A53-4ED4-4D1F-A95D-89E551703C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16F61D6-99EB-4360-9767-4572D66DC0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65638-8C33-40E7-9335-DCD888F47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C2623-DADD-4DCC-BCD7-2E026D578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8B4C47-0212-4F53-B8AF-86A27A76A3E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98176C-5157-4A12-9942-5C81AEE7EF5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11582C-D5B4-457B-9C5F-571370C15B5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9D8B71-1C44-4356-BD21-A2E2691F8D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ED91A-658F-42E5-AFBD-137E3BE06122}" type="datetimeFigureOut">
              <a:t>2026/7/12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30C443-D2FD-45AF-8D4F-4DCC5D02CB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C3022E-27E2-49EC-B3F0-0CACA92228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16F61D6-99EB-4360-9767-4572D66DC0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613BCE-19F1-4AC7-AB8E-8D060F131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B8CB53-3DE0-4CAD-948A-3A39E9C741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ED91A-658F-42E5-AFBD-137E3BE06122}" type="datetimeFigureOut">
              <a:t>2026/7/12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31C7E7-C440-44B1-A9C4-FC3F87A0824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3E6CF2-42C5-45DF-970B-3988763EB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16F61D6-99EB-4360-9767-4572D66DC0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6B64B7-9EE9-4462-BC3E-9A6CAA1A9D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ED91A-658F-42E5-AFBD-137E3BE06122}" type="datetimeFigureOut">
              <a:t>2026/7/12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DF3562-4898-4E85-A977-6417F5190C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DCAC09-23B4-4C15-A624-937FFF411F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16F61D6-99EB-4360-9767-4572D66DC0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27620D-20F5-422C-B5F0-4FA3FFA1F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BC86A0-8BFF-4570-AF0C-BD0757424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E95CF6-1EB2-4539-8F93-A9D699DE00A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694D9A-1555-44B6-A9F8-2F8379EEA8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ED91A-658F-42E5-AFBD-137E3BE06122}" type="datetimeFigureOut">
              <a:t>2026/7/12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14CCBF-9CBD-4711-B626-028E1CF623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BDD700-B6AF-4EB2-B2B5-731A335839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16F61D6-99EB-4360-9767-4572D66DC0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714D46-0076-43C0-8C46-96F5623E1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55CE20-B330-4D62-8E0F-FEBF0129C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1D29D4-4C60-4AEB-845A-F84941F98ED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21F50E-37D7-4CB0-BC73-2DB2C5C6D13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ED91A-658F-42E5-AFBD-137E3BE06122}" type="datetimeFigureOut">
              <a:t>2026/7/12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0719D4-9E21-4060-8B58-179C1EE4AD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1B12BF-C2B5-4B72-9855-60828F95D3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16F61D6-99EB-4360-9767-4572D66DC0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20AE93-7609-4512-AD13-04768064A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222403-3393-4272-85DE-8CD85E936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46AF1B-36A2-406E-888F-BB82C3B4F2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ED91A-658F-42E5-AFBD-137E3BE06122}" type="datetimeFigureOut">
              <a:t>2026/7/12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C53056-8466-4A25-A02E-4C7DA634B4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4185E8-1F5F-46DE-9560-81255AEF36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16F61D6-99EB-4360-9767-4572D66DC0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0560FBA-A87D-44C8-89F2-0343906AE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30574C-CF98-47DE-8727-C241B74AB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005A4C-0B62-4914-97BA-72F4C75A46F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ED91A-658F-42E5-AFBD-137E3BE06122}" type="datetimeFigureOut">
              <a:t>2026/7/12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2669C6-512D-4A93-B10A-4C03DD03EA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54AEFF-3B8D-4510-ACC0-2DFE22E8A1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16F61D6-99EB-4360-9767-4572D66DC0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529BA1-D01E-40AB-BC55-0A32E248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0B96AA-5DB9-4487-8E9D-172DAB4E1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C75151-2F38-4EEC-B17A-B50B65B4373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ED91A-658F-42E5-AFBD-137E3BE06122}" type="datetimeFigureOut">
              <a:t>2026/7/12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900560-6F60-4A12-877F-7602579A56F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391BB3-ED76-4455-AA49-C23E96DDC89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F61D6-99EB-4360-9767-4572D66DC06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54921" y="1"/>
            <a:ext cx="5152404" cy="687199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0417AB0-F492-41B6-91B8-D1253A7CAB7D}"/>
              </a:ext>
            </a:extLst>
          </p:cNvPr>
          <p:cNvSpPr>
            <a:spLocks noGrp="1"/>
          </p:cNvSpPr>
          <p:nvPr/>
        </p:nvSpPr>
        <p:spPr>
          <a:xfrm>
            <a:off x="-31995" y="0"/>
            <a:ext cx="12239320" cy="6871993"/>
          </a:xfrm>
          <a:prstGeom prst="rect">
            <a:avLst/>
          </a:prstGeom>
          <a:gradFill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B5895">
                  <a:lumMod val="100000"/>
                </a:srgbClr>
              </a:gs>
              <a:gs pos="36000">
                <a:srgbClr val="1564AB"/>
              </a:gs>
              <a:gs pos="62000">
                <a:schemeClr val="accent5"/>
              </a:gs>
              <a:gs pos="81000">
                <a:schemeClr val="accent1">
                  <a:lumMod val="45000"/>
                  <a:lumOff val="55000"/>
                  <a:alpha val="26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PA_文本框 14">
            <a:extLst>
              <a:ext uri="{FF2B5EF4-FFF2-40B4-BE49-F238E27FC236}">
                <a16:creationId xmlns:a16="http://schemas.microsoft.com/office/drawing/2014/main" id="{241C01BF-464E-425D-8A9C-D267261A5295}"/>
              </a:ext>
            </a:extLst>
          </p:cNvPr>
          <p:cNvSpPr>
            <a:spLocks noGrp="1"/>
          </p:cNvSpPr>
          <p:nvPr/>
        </p:nvSpPr>
        <p:spPr>
          <a:xfrm>
            <a:off x="57445" y="1623948"/>
            <a:ext cx="791088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5400" b="1" i="0" u="none" cap="none" dirty="0" err="1">
                <a:ln>
                  <a:noFill/>
                </a:ln>
                <a:solidFill>
                  <a:prstClr val="white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华文新魏"/>
                <a:ea typeface="华文新魏"/>
                <a:cs typeface="华文新魏"/>
              </a:rPr>
              <a:t>广义</a:t>
            </a:r>
            <a:r>
              <a:rPr sz="5400" b="1" i="0" u="none" cap="none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华文新魏"/>
                <a:ea typeface="华文新魏"/>
                <a:cs typeface="华文新魏"/>
              </a:rPr>
              <a:t> WOLA </a:t>
            </a:r>
            <a:r>
              <a:rPr sz="5400" b="1" i="0" u="none" cap="none" dirty="0" err="1">
                <a:ln>
                  <a:noFill/>
                </a:ln>
                <a:solidFill>
                  <a:prstClr val="white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华文新魏"/>
                <a:ea typeface="华文新魏"/>
                <a:cs typeface="华文新魏"/>
              </a:rPr>
              <a:t>滤波器组</a:t>
            </a:r>
            <a:endParaRPr sz="5400" b="1" i="0" u="none" cap="none" dirty="0">
              <a:ln>
                <a:noFill/>
              </a:ln>
              <a:solidFill>
                <a:prstClr val="white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华文新魏"/>
              <a:ea typeface="华文新魏"/>
              <a:cs typeface="华文新魏"/>
            </a:endParaRPr>
          </a:p>
          <a:p>
            <a:pPr algn="ctr">
              <a:buNone/>
            </a:pPr>
            <a:r>
              <a:rPr sz="6600" b="1" dirty="0" err="1">
                <a:solidFill>
                  <a:prstClr val="white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华文新魏"/>
                <a:ea typeface="华文新魏"/>
                <a:cs typeface="华文新魏"/>
              </a:rPr>
              <a:t>提升子带系统辨识</a:t>
            </a:r>
            <a:endParaRPr sz="6600" b="1" dirty="0">
              <a:solidFill>
                <a:prstClr val="white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华文新魏"/>
              <a:ea typeface="华文新魏"/>
              <a:cs typeface="华文新魏"/>
            </a:endParaRP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1A01187C-165B-45C5-9CD0-46543F819B27}"/>
              </a:ext>
            </a:extLst>
          </p:cNvPr>
          <p:cNvSpPr>
            <a:spLocks noGrp="1"/>
          </p:cNvSpPr>
          <p:nvPr/>
        </p:nvSpPr>
        <p:spPr>
          <a:xfrm>
            <a:off x="328393" y="5058235"/>
            <a:ext cx="7368988" cy="0"/>
          </a:xfrm>
          <a:prstGeom prst="line">
            <a:avLst/>
          </a:prstGeom>
          <a:ln w="19050">
            <a:gradFill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0000">
                  <a:schemeClr val="bg1"/>
                </a:gs>
                <a:gs pos="79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54694F3-3C7C-42FA-A3CA-D1D063332964}"/>
              </a:ext>
            </a:extLst>
          </p:cNvPr>
          <p:cNvSpPr>
            <a:spLocks noGrp="1"/>
          </p:cNvSpPr>
          <p:nvPr/>
        </p:nvSpPr>
        <p:spPr>
          <a:xfrm>
            <a:off x="1359500" y="5371553"/>
            <a:ext cx="446905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50000"/>
              </a:lnSpc>
              <a:buNone/>
            </a:pPr>
            <a:r>
              <a:rPr sz="2400" b="1">
                <a:solidFill>
                  <a:schemeClr val="bg1"/>
                </a:solidFill>
                <a:latin typeface="华文中宋"/>
                <a:ea typeface="华文中宋"/>
                <a:cs typeface="华文中宋"/>
              </a:rPr>
              <a:t>Sharma 等  ·  2511.15766</a:t>
            </a:r>
          </a:p>
        </p:txBody>
      </p:sp>
      <p:pic>
        <p:nvPicPr>
          <p:cNvPr id="3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82" y="10645"/>
            <a:ext cx="5616672" cy="119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41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6"/>
          <p:cNvPicPr>
            <a:picLocks noChangeAspect="1"/>
          </p:cNvPicPr>
          <p:nvPr/>
        </p:nvPicPr>
        <p:blipFill rotWithShape="1">
          <a:blip r:embed="rId3"/>
          <a:srcRect t="25247" b="18350"/>
          <a:stretch/>
        </p:blipFill>
        <p:spPr>
          <a:xfrm>
            <a:off x="1575" y="1733548"/>
            <a:ext cx="12188849" cy="386651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1284EA8-67EC-4CA9-8469-09EF8688F17A}"/>
              </a:ext>
            </a:extLst>
          </p:cNvPr>
          <p:cNvSpPr>
            <a:spLocks noGrp="1"/>
          </p:cNvSpPr>
          <p:nvPr/>
        </p:nvSpPr>
        <p:spPr>
          <a:xfrm>
            <a:off x="0" y="1733549"/>
            <a:ext cx="12192000" cy="3866515"/>
          </a:xfrm>
          <a:prstGeom prst="rect">
            <a:avLst/>
          </a:prstGeom>
          <a:gradFill rotWithShape="1">
            <a:gsLst>
              <a:gs pos="0">
                <a:srgbClr val="2B5895"/>
              </a:gs>
              <a:gs pos="50000">
                <a:srgbClr val="2B5895">
                  <a:alpha val="60000"/>
                </a:srgbClr>
              </a:gs>
              <a:gs pos="100000">
                <a:srgbClr val="2B589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CEC4085-3EBE-4B98-8257-76B7C8D0F548}"/>
              </a:ext>
            </a:extLst>
          </p:cNvPr>
          <p:cNvSpPr>
            <a:spLocks noGrp="1"/>
          </p:cNvSpPr>
          <p:nvPr/>
        </p:nvSpPr>
        <p:spPr>
          <a:xfrm>
            <a:off x="5029200" y="309230"/>
            <a:ext cx="2133600" cy="2133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DE26107-7EB1-4A8B-BF9D-D8933F2DF9E0}"/>
              </a:ext>
            </a:extLst>
          </p:cNvPr>
          <p:cNvSpPr>
            <a:spLocks noGrp="1"/>
          </p:cNvSpPr>
          <p:nvPr/>
        </p:nvSpPr>
        <p:spPr>
          <a:xfrm>
            <a:off x="2425700" y="3137623"/>
            <a:ext cx="3438314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0" b="1"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bg1">
                        <a:alpha val="52000"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alpha val="52000"/>
                      </a:schemeClr>
                    </a:gs>
                  </a:gsLst>
                  <a:lin ang="5400000" scaled="1"/>
                </a:gradFill>
                <a:latin typeface="Times New Roman"/>
                <a:ea typeface="Times New Roman"/>
                <a:cs typeface="Times New Roman"/>
              </a:rPr>
              <a:t>PART 01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0207B3-C0F0-479E-A209-83EFED13E203}"/>
              </a:ext>
            </a:extLst>
          </p:cNvPr>
          <p:cNvSpPr>
            <a:spLocks noGrp="1"/>
          </p:cNvSpPr>
          <p:nvPr/>
        </p:nvSpPr>
        <p:spPr>
          <a:xfrm>
            <a:off x="6503868" y="3370334"/>
            <a:ext cx="357020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bg1">
                        <a:alpha val="52000"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alpha val="52000"/>
                      </a:schemeClr>
                    </a:gs>
                  </a:gsLst>
                  <a:lin ang="5400000" scaled="1"/>
                </a:gradFill>
                <a:latin typeface="方正大标宋_GBK"/>
                <a:ea typeface="方正大标宋_GBK"/>
                <a:cs typeface="方正大标宋_GBK"/>
              </a:rPr>
              <a:t>研究问题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FD826DC-7D69-470A-93B9-81FF6F693F05}"/>
              </a:ext>
            </a:extLst>
          </p:cNvPr>
          <p:cNvSpPr>
            <a:spLocks noGrp="1"/>
          </p:cNvSpPr>
          <p:nvPr/>
        </p:nvSpPr>
        <p:spPr>
          <a:xfrm>
            <a:off x="5928520" y="2998447"/>
            <a:ext cx="44114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chemeClr val="bg1"/>
                </a:solidFill>
              </a:rPr>
              <a:t>|</a:t>
            </a:r>
          </a:p>
        </p:txBody>
      </p:sp>
      <p:pic>
        <p:nvPicPr>
          <p:cNvPr id="25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646" y="363724"/>
            <a:ext cx="2960708" cy="215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063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F4D9D5E4-888F-4756-986B-303D29A562F3}"/>
              </a:ext>
            </a:extLst>
          </p:cNvPr>
          <p:cNvSpPr>
            <a:spLocks noGrp="1"/>
          </p:cNvSpPr>
          <p:nvPr/>
        </p:nvSpPr>
        <p:spPr>
          <a:xfrm flipH="1">
            <a:off x="978568" y="60960"/>
            <a:ext cx="278063" cy="244240"/>
          </a:xfrm>
          <a:prstGeom prst="triangle">
            <a:avLst>
              <a:gd name="adj" fmla="val 53237"/>
            </a:avLst>
          </a:prstGeom>
          <a:solidFill>
            <a:srgbClr val="2B5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8A549014-9AA2-43F1-B69F-0F49D104E49B}"/>
              </a:ext>
            </a:extLst>
          </p:cNvPr>
          <p:cNvSpPr>
            <a:spLocks noGrp="1"/>
          </p:cNvSpPr>
          <p:nvPr/>
        </p:nvSpPr>
        <p:spPr>
          <a:xfrm flipH="1">
            <a:off x="269039" y="64768"/>
            <a:ext cx="278063" cy="244240"/>
          </a:xfrm>
          <a:prstGeom prst="triangle">
            <a:avLst>
              <a:gd name="adj" fmla="val 53237"/>
            </a:avLst>
          </a:prstGeom>
          <a:solidFill>
            <a:srgbClr val="2B5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8C56AF5C-6205-45B4-B90E-C9546C8CA3F3}"/>
              </a:ext>
            </a:extLst>
          </p:cNvPr>
          <p:cNvSpPr>
            <a:spLocks noGrp="1"/>
          </p:cNvSpPr>
          <p:nvPr/>
        </p:nvSpPr>
        <p:spPr>
          <a:xfrm>
            <a:off x="-2" y="183080"/>
            <a:ext cx="9711487" cy="4826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7D13A8BF-D02E-4848-8E88-B93E18216CC7}"/>
              </a:ext>
            </a:extLst>
          </p:cNvPr>
          <p:cNvSpPr>
            <a:spLocks noGrp="1"/>
          </p:cNvSpPr>
          <p:nvPr/>
        </p:nvSpPr>
        <p:spPr>
          <a:xfrm rot="10800000">
            <a:off x="393700" y="65895"/>
            <a:ext cx="723900" cy="691570"/>
          </a:xfrm>
          <a:prstGeom prst="triangl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箭头: V 形 18">
            <a:extLst>
              <a:ext uri="{FF2B5EF4-FFF2-40B4-BE49-F238E27FC236}">
                <a16:creationId xmlns:a16="http://schemas.microsoft.com/office/drawing/2014/main" id="{A7B12869-7FB9-4C12-BB69-0386F2BDFD62}"/>
              </a:ext>
            </a:extLst>
          </p:cNvPr>
          <p:cNvSpPr>
            <a:spLocks noGrp="1"/>
          </p:cNvSpPr>
          <p:nvPr/>
        </p:nvSpPr>
        <p:spPr>
          <a:xfrm>
            <a:off x="9781954" y="183080"/>
            <a:ext cx="431466" cy="482600"/>
          </a:xfrm>
          <a:prstGeom prst="chevron">
            <a:avLst>
              <a:gd name="adj" fmla="val 54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箭头: V 形 19">
            <a:extLst>
              <a:ext uri="{FF2B5EF4-FFF2-40B4-BE49-F238E27FC236}">
                <a16:creationId xmlns:a16="http://schemas.microsoft.com/office/drawing/2014/main" id="{05B9BC0D-3AE9-4823-8739-45F9277DDB9F}"/>
              </a:ext>
            </a:extLst>
          </p:cNvPr>
          <p:cNvSpPr>
            <a:spLocks noGrp="1"/>
          </p:cNvSpPr>
          <p:nvPr/>
        </p:nvSpPr>
        <p:spPr>
          <a:xfrm>
            <a:off x="10155411" y="183080"/>
            <a:ext cx="431466" cy="482600"/>
          </a:xfrm>
          <a:prstGeom prst="chevron">
            <a:avLst>
              <a:gd name="adj" fmla="val 54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B0D7BF-0ED1-46E4-91AE-650BCC239684}"/>
              </a:ext>
            </a:extLst>
          </p:cNvPr>
          <p:cNvSpPr>
            <a:spLocks noGrp="1"/>
          </p:cNvSpPr>
          <p:nvPr/>
        </p:nvSpPr>
        <p:spPr>
          <a:xfrm>
            <a:off x="517832" y="110860"/>
            <a:ext cx="524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chemeClr val="bg1"/>
                </a:solidFill>
                <a:latin typeface="华文行楷"/>
                <a:ea typeface="华文行楷"/>
                <a:cs typeface="华文行楷"/>
              </a:rPr>
              <a:t>一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9EA2AD-D8BF-4AE1-8F8D-7322CAD0C678}"/>
              </a:ext>
            </a:extLst>
          </p:cNvPr>
          <p:cNvSpPr>
            <a:spLocks noGrp="1"/>
          </p:cNvSpPr>
          <p:nvPr/>
        </p:nvSpPr>
        <p:spPr>
          <a:xfrm>
            <a:off x="1212308" y="160839"/>
            <a:ext cx="20313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chemeClr val="bg1"/>
                </a:solidFill>
                <a:latin typeface="方正大标宋_GBK"/>
                <a:ea typeface="方正大标宋_GBK"/>
                <a:cs typeface="方正大标宋_GBK"/>
              </a:rPr>
              <a:t>传统 WOLA 的效率来自一个硬约束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5370FC6-358A-4403-8D2F-9800918AC1C6}"/>
              </a:ext>
            </a:extLst>
          </p:cNvPr>
          <p:cNvSpPr>
            <a:spLocks noGrp="1"/>
          </p:cNvSpPr>
          <p:nvPr/>
        </p:nvSpPr>
        <p:spPr>
          <a:xfrm>
            <a:off x="5735080" y="1117600"/>
            <a:ext cx="5729095" cy="49911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srgbClr val="2B5895">
                <a:alpha val="8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45F8BEB1-7FED-EADD-3732-7E548791C34C}"/>
              </a:ext>
            </a:extLst>
          </p:cNvPr>
          <p:cNvSpPr>
            <a:spLocks noGrp="1"/>
          </p:cNvSpPr>
          <p:nvPr/>
        </p:nvSpPr>
        <p:spPr>
          <a:xfrm>
            <a:off x="-174544" y="6646985"/>
            <a:ext cx="7864882" cy="211015"/>
          </a:xfrm>
          <a:prstGeom prst="parallelogram">
            <a:avLst>
              <a:gd name="adj" fmla="val 3946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3E799480-0CCE-8011-B7FD-4529BC94B6CF}"/>
              </a:ext>
            </a:extLst>
          </p:cNvPr>
          <p:cNvSpPr>
            <a:spLocks noGrp="1"/>
          </p:cNvSpPr>
          <p:nvPr/>
        </p:nvSpPr>
        <p:spPr>
          <a:xfrm>
            <a:off x="7690338" y="6277086"/>
            <a:ext cx="410308" cy="594430"/>
          </a:xfrm>
          <a:prstGeom prst="parallelogram">
            <a:avLst>
              <a:gd name="adj" fmla="val 6072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03F4371B-AFE8-9C8F-16E6-352028502490}"/>
              </a:ext>
            </a:extLst>
          </p:cNvPr>
          <p:cNvSpPr>
            <a:spLocks noGrp="1"/>
          </p:cNvSpPr>
          <p:nvPr/>
        </p:nvSpPr>
        <p:spPr>
          <a:xfrm>
            <a:off x="8026278" y="6293056"/>
            <a:ext cx="4470522" cy="564944"/>
          </a:xfrm>
          <a:prstGeom prst="parallelogram">
            <a:avLst>
              <a:gd name="adj" fmla="val 415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latin typeface="华文楷体"/>
                <a:ea typeface="华文楷体"/>
                <a:cs typeface="华文楷体"/>
              </a:rPr>
              <a:t>Sharma 等  ·  2511.15766</a:t>
            </a:r>
          </a:p>
        </p:txBody>
      </p:sp>
      <p:pic>
        <p:nvPicPr>
          <p:cNvPr id="60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42" y="722383"/>
            <a:ext cx="3895418" cy="2322449"/>
          </a:xfrm>
          <a:prstGeom prst="rect">
            <a:avLst/>
          </a:prstGeom>
        </p:spPr>
      </p:pic>
      <p:pic>
        <p:nvPicPr>
          <p:cNvPr id="61" name="图片 12"/>
          <p:cNvPicPr>
            <a:picLocks noChangeAspect="1"/>
          </p:cNvPicPr>
          <p:nvPr/>
        </p:nvPicPr>
        <p:blipFill>
          <a:blip r:embed="rId4"/>
          <a:srcRect l="4305" t="4445" r="5833"/>
          <a:stretch>
            <a:fillRect/>
          </a:stretch>
        </p:blipFill>
        <p:spPr>
          <a:xfrm>
            <a:off x="517832" y="3033445"/>
            <a:ext cx="4299039" cy="3428600"/>
          </a:xfrm>
          <a:prstGeom prst="rect">
            <a:avLst/>
          </a:prstGeom>
        </p:spPr>
      </p:pic>
      <p:sp>
        <p:nvSpPr>
          <p:cNvPr id="41" name="Rectangle 6">
            <a:extLst>
              <a:ext uri="{FF2B5EF4-FFF2-40B4-BE49-F238E27FC236}">
                <a16:creationId xmlns:a16="http://schemas.microsoft.com/office/drawing/2014/main" id="{B8816A37-A6B2-1804-F738-3D00721275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  <p:sp>
        <p:nvSpPr>
          <p:cNvPr id="42" name="文本框 1">
            <a:extLst>
              <a:ext uri="{FF2B5EF4-FFF2-40B4-BE49-F238E27FC236}">
                <a16:creationId xmlns:a16="http://schemas.microsoft.com/office/drawing/2014/main" id="{231C93A2-66A0-629E-F78C-CAA0428CD3AC}"/>
              </a:ext>
            </a:extLst>
          </p:cNvPr>
          <p:cNvSpPr>
            <a:spLocks noGrp="1"/>
          </p:cNvSpPr>
          <p:nvPr/>
        </p:nvSpPr>
        <p:spPr>
          <a:xfrm>
            <a:off x="2529205" y="9554210"/>
            <a:ext cx="2640330" cy="180975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anchor="t">
            <a:spAutoFit/>
          </a:bodyPr>
          <a:lstStyle/>
          <a:p>
            <a:pPr algn="ctr">
              <a:buNone/>
            </a:pPr>
            <a:r>
              <a:rPr sz="1100">
                <a:latin typeface="宋体"/>
                <a:ea typeface="宋体"/>
                <a:cs typeface="宋体"/>
              </a:rPr>
              <a:t> </a:t>
            </a:r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B2A85B2D-A98E-15F1-828E-2925C8949E44}"/>
              </a:ext>
            </a:extLst>
          </p:cNvPr>
          <p:cNvSpPr>
            <a:spLocks noGrp="1"/>
          </p:cNvSpPr>
          <p:nvPr/>
        </p:nvSpPr>
        <p:spPr>
          <a:xfrm rot="10800000" flipV="1">
            <a:off x="5969544" y="1231861"/>
            <a:ext cx="5099413" cy="44319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传统 WOLA 以低复杂度换取可实现性。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子带滤波在降采样率执行，适合长脉冲响应系统。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多速率变换后，满速率滤波器被限制为 Cₖ(zᴰ)：系数之间插入 D−1 个零。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稀疏结构锁死了跨帧建模自由度，难以准确逼近真实系统。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宋体"/>
              <a:ea typeface="宋体"/>
              <a:cs typeface="宋体"/>
            </a:endParaRP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关键矛盾：精度需要更多自由度，而更多自由度又会推高计算量。</a:t>
            </a:r>
          </a:p>
        </p:txBody>
      </p:sp>
    </p:spTree>
    <p:extLst>
      <p:ext uri="{BB962C8B-B14F-4D97-AF65-F5344CB8AC3E}">
        <p14:creationId xmlns:p14="http://schemas.microsoft.com/office/powerpoint/2010/main" val="1965970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F4D9D5E4-888F-4756-986B-303D29A562F3}"/>
              </a:ext>
            </a:extLst>
          </p:cNvPr>
          <p:cNvSpPr>
            <a:spLocks noGrp="1"/>
          </p:cNvSpPr>
          <p:nvPr/>
        </p:nvSpPr>
        <p:spPr>
          <a:xfrm flipH="1">
            <a:off x="978568" y="60960"/>
            <a:ext cx="278063" cy="244240"/>
          </a:xfrm>
          <a:prstGeom prst="triangle">
            <a:avLst>
              <a:gd name="adj" fmla="val 53237"/>
            </a:avLst>
          </a:prstGeom>
          <a:solidFill>
            <a:srgbClr val="2B5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8A549014-9AA2-43F1-B69F-0F49D104E49B}"/>
              </a:ext>
            </a:extLst>
          </p:cNvPr>
          <p:cNvSpPr>
            <a:spLocks noGrp="1"/>
          </p:cNvSpPr>
          <p:nvPr/>
        </p:nvSpPr>
        <p:spPr>
          <a:xfrm flipH="1">
            <a:off x="269039" y="64768"/>
            <a:ext cx="278063" cy="244240"/>
          </a:xfrm>
          <a:prstGeom prst="triangle">
            <a:avLst>
              <a:gd name="adj" fmla="val 53237"/>
            </a:avLst>
          </a:prstGeom>
          <a:solidFill>
            <a:srgbClr val="2B5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8C56AF5C-6205-45B4-B90E-C9546C8CA3F3}"/>
              </a:ext>
            </a:extLst>
          </p:cNvPr>
          <p:cNvSpPr>
            <a:spLocks noGrp="1"/>
          </p:cNvSpPr>
          <p:nvPr/>
        </p:nvSpPr>
        <p:spPr>
          <a:xfrm>
            <a:off x="-2" y="183080"/>
            <a:ext cx="9711487" cy="4826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7D13A8BF-D02E-4848-8E88-B93E18216CC7}"/>
              </a:ext>
            </a:extLst>
          </p:cNvPr>
          <p:cNvSpPr>
            <a:spLocks noGrp="1"/>
          </p:cNvSpPr>
          <p:nvPr/>
        </p:nvSpPr>
        <p:spPr>
          <a:xfrm rot="10800000">
            <a:off x="393700" y="65895"/>
            <a:ext cx="723900" cy="691570"/>
          </a:xfrm>
          <a:prstGeom prst="triangl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箭头: V 形 18">
            <a:extLst>
              <a:ext uri="{FF2B5EF4-FFF2-40B4-BE49-F238E27FC236}">
                <a16:creationId xmlns:a16="http://schemas.microsoft.com/office/drawing/2014/main" id="{A7B12869-7FB9-4C12-BB69-0386F2BDFD62}"/>
              </a:ext>
            </a:extLst>
          </p:cNvPr>
          <p:cNvSpPr>
            <a:spLocks noGrp="1"/>
          </p:cNvSpPr>
          <p:nvPr/>
        </p:nvSpPr>
        <p:spPr>
          <a:xfrm>
            <a:off x="9781954" y="183080"/>
            <a:ext cx="431466" cy="482600"/>
          </a:xfrm>
          <a:prstGeom prst="chevron">
            <a:avLst>
              <a:gd name="adj" fmla="val 54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箭头: V 形 19">
            <a:extLst>
              <a:ext uri="{FF2B5EF4-FFF2-40B4-BE49-F238E27FC236}">
                <a16:creationId xmlns:a16="http://schemas.microsoft.com/office/drawing/2014/main" id="{05B9BC0D-3AE9-4823-8739-45F9277DDB9F}"/>
              </a:ext>
            </a:extLst>
          </p:cNvPr>
          <p:cNvSpPr>
            <a:spLocks noGrp="1"/>
          </p:cNvSpPr>
          <p:nvPr/>
        </p:nvSpPr>
        <p:spPr>
          <a:xfrm>
            <a:off x="10155411" y="183080"/>
            <a:ext cx="431466" cy="482600"/>
          </a:xfrm>
          <a:prstGeom prst="chevron">
            <a:avLst>
              <a:gd name="adj" fmla="val 54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B0D7BF-0ED1-46E4-91AE-650BCC239684}"/>
              </a:ext>
            </a:extLst>
          </p:cNvPr>
          <p:cNvSpPr>
            <a:spLocks noGrp="1"/>
          </p:cNvSpPr>
          <p:nvPr/>
        </p:nvSpPr>
        <p:spPr>
          <a:xfrm>
            <a:off x="517832" y="110860"/>
            <a:ext cx="524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chemeClr val="bg1"/>
                </a:solidFill>
                <a:latin typeface="华文行楷"/>
                <a:ea typeface="华文行楷"/>
                <a:cs typeface="华文行楷"/>
              </a:rPr>
              <a:t>一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9EA2AD-D8BF-4AE1-8F8D-7322CAD0C678}"/>
              </a:ext>
            </a:extLst>
          </p:cNvPr>
          <p:cNvSpPr>
            <a:spLocks noGrp="1"/>
          </p:cNvSpPr>
          <p:nvPr/>
        </p:nvSpPr>
        <p:spPr>
          <a:xfrm>
            <a:off x="1212308" y="160839"/>
            <a:ext cx="20313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 err="1">
                <a:solidFill>
                  <a:schemeClr val="bg1"/>
                </a:solidFill>
                <a:latin typeface="方正大标宋_GBK"/>
                <a:ea typeface="方正大标宋_GBK"/>
                <a:cs typeface="方正大标宋_GBK"/>
              </a:rPr>
              <a:t>问题不只是实现，而是两类误差叠加</a:t>
            </a:r>
            <a:endParaRPr sz="2400" dirty="0">
              <a:solidFill>
                <a:schemeClr val="bg1"/>
              </a:solidFill>
              <a:latin typeface="方正大标宋_GBK"/>
              <a:ea typeface="方正大标宋_GBK"/>
              <a:cs typeface="方正大标宋_GBK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5370FC6-358A-4403-8D2F-9800918AC1C6}"/>
              </a:ext>
            </a:extLst>
          </p:cNvPr>
          <p:cNvSpPr>
            <a:spLocks noGrp="1"/>
          </p:cNvSpPr>
          <p:nvPr/>
        </p:nvSpPr>
        <p:spPr>
          <a:xfrm>
            <a:off x="5735080" y="1117600"/>
            <a:ext cx="5729095" cy="49911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srgbClr val="2B5895">
                <a:alpha val="8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45F8BEB1-7FED-EADD-3732-7E548791C34C}"/>
              </a:ext>
            </a:extLst>
          </p:cNvPr>
          <p:cNvSpPr>
            <a:spLocks noGrp="1"/>
          </p:cNvSpPr>
          <p:nvPr/>
        </p:nvSpPr>
        <p:spPr>
          <a:xfrm>
            <a:off x="-174544" y="6646985"/>
            <a:ext cx="7864882" cy="211015"/>
          </a:xfrm>
          <a:prstGeom prst="parallelogram">
            <a:avLst>
              <a:gd name="adj" fmla="val 3946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3E799480-0CCE-8011-B7FD-4529BC94B6CF}"/>
              </a:ext>
            </a:extLst>
          </p:cNvPr>
          <p:cNvSpPr>
            <a:spLocks noGrp="1"/>
          </p:cNvSpPr>
          <p:nvPr/>
        </p:nvSpPr>
        <p:spPr>
          <a:xfrm>
            <a:off x="7690338" y="6277086"/>
            <a:ext cx="410308" cy="594430"/>
          </a:xfrm>
          <a:prstGeom prst="parallelogram">
            <a:avLst>
              <a:gd name="adj" fmla="val 6072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03F4371B-AFE8-9C8F-16E6-352028502490}"/>
              </a:ext>
            </a:extLst>
          </p:cNvPr>
          <p:cNvSpPr>
            <a:spLocks noGrp="1"/>
          </p:cNvSpPr>
          <p:nvPr/>
        </p:nvSpPr>
        <p:spPr>
          <a:xfrm>
            <a:off x="8026278" y="6293056"/>
            <a:ext cx="4470522" cy="564944"/>
          </a:xfrm>
          <a:prstGeom prst="parallelogram">
            <a:avLst>
              <a:gd name="adj" fmla="val 415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latin typeface="华文楷体"/>
                <a:ea typeface="华文楷体"/>
                <a:cs typeface="华文楷体"/>
              </a:rPr>
              <a:t>失真 / 混叠</a:t>
            </a:r>
          </a:p>
        </p:txBody>
      </p:sp>
      <p:pic>
        <p:nvPicPr>
          <p:cNvPr id="60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42" y="722383"/>
            <a:ext cx="3895418" cy="2322449"/>
          </a:xfrm>
          <a:prstGeom prst="rect">
            <a:avLst/>
          </a:prstGeom>
        </p:spPr>
      </p:pic>
      <p:pic>
        <p:nvPicPr>
          <p:cNvPr id="61" name="图片 12"/>
          <p:cNvPicPr>
            <a:picLocks noChangeAspect="1"/>
          </p:cNvPicPr>
          <p:nvPr/>
        </p:nvPicPr>
        <p:blipFill>
          <a:blip r:embed="rId4"/>
          <a:srcRect l="4305" t="4445" r="5833"/>
          <a:stretch>
            <a:fillRect/>
          </a:stretch>
        </p:blipFill>
        <p:spPr>
          <a:xfrm>
            <a:off x="517832" y="3033445"/>
            <a:ext cx="4299039" cy="3428600"/>
          </a:xfrm>
          <a:prstGeom prst="rect">
            <a:avLst/>
          </a:prstGeom>
        </p:spPr>
      </p:pic>
      <p:sp>
        <p:nvSpPr>
          <p:cNvPr id="41" name="Rectangle 6">
            <a:extLst>
              <a:ext uri="{FF2B5EF4-FFF2-40B4-BE49-F238E27FC236}">
                <a16:creationId xmlns:a16="http://schemas.microsoft.com/office/drawing/2014/main" id="{B8816A37-A6B2-1804-F738-3D00721275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  <p:sp>
        <p:nvSpPr>
          <p:cNvPr id="42" name="文本框 1">
            <a:extLst>
              <a:ext uri="{FF2B5EF4-FFF2-40B4-BE49-F238E27FC236}">
                <a16:creationId xmlns:a16="http://schemas.microsoft.com/office/drawing/2014/main" id="{231C93A2-66A0-629E-F78C-CAA0428CD3AC}"/>
              </a:ext>
            </a:extLst>
          </p:cNvPr>
          <p:cNvSpPr>
            <a:spLocks noGrp="1"/>
          </p:cNvSpPr>
          <p:nvPr/>
        </p:nvSpPr>
        <p:spPr>
          <a:xfrm>
            <a:off x="2529205" y="9554210"/>
            <a:ext cx="2640330" cy="180975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anchor="t">
            <a:spAutoFit/>
          </a:bodyPr>
          <a:lstStyle/>
          <a:p>
            <a:pPr algn="ctr">
              <a:buNone/>
            </a:pPr>
            <a:r>
              <a:rPr sz="1100">
                <a:latin typeface="宋体"/>
                <a:ea typeface="宋体"/>
                <a:cs typeface="宋体"/>
              </a:rPr>
              <a:t> </a:t>
            </a:r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B2A85B2D-A98E-15F1-828E-2925C8949E44}"/>
              </a:ext>
            </a:extLst>
          </p:cNvPr>
          <p:cNvSpPr>
            <a:spLocks noGrp="1"/>
          </p:cNvSpPr>
          <p:nvPr/>
        </p:nvSpPr>
        <p:spPr>
          <a:xfrm rot="10800000" flipV="1">
            <a:off x="5969544" y="1231861"/>
            <a:ext cx="5099413" cy="44319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论文把传统方案的瓶颈拆成两类误差：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失真误差：STFT 与循环卷积使估计的满带响应偏离真实系统。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子带混叠：分析/合成原型滤波器与降采样共同引入别名项。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宋体"/>
              <a:ea typeface="宋体"/>
              <a:cs typeface="宋体"/>
            </a:endParaRP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已有工作往往只减少混叠，或用额外约束补偿循环失真；但缺少从时域系统辨识角度对 T、L、D 与原型滤波器的统一分析。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宋体"/>
              <a:ea typeface="宋体"/>
              <a:cs typeface="宋体"/>
            </a:endParaRP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论文目标：同时释放建模自由度，并量化 MSE/ERLE。</a:t>
            </a:r>
          </a:p>
        </p:txBody>
      </p:sp>
    </p:spTree>
    <p:extLst>
      <p:ext uri="{BB962C8B-B14F-4D97-AF65-F5344CB8AC3E}">
        <p14:creationId xmlns:p14="http://schemas.microsoft.com/office/powerpoint/2010/main" val="1965970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6"/>
          <p:cNvPicPr>
            <a:picLocks noChangeAspect="1"/>
          </p:cNvPicPr>
          <p:nvPr/>
        </p:nvPicPr>
        <p:blipFill rotWithShape="1">
          <a:blip r:embed="rId3"/>
          <a:srcRect t="25247" b="18350"/>
          <a:stretch/>
        </p:blipFill>
        <p:spPr>
          <a:xfrm>
            <a:off x="1575" y="1733548"/>
            <a:ext cx="12188849" cy="386651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1284EA8-67EC-4CA9-8469-09EF8688F17A}"/>
              </a:ext>
            </a:extLst>
          </p:cNvPr>
          <p:cNvSpPr>
            <a:spLocks noGrp="1"/>
          </p:cNvSpPr>
          <p:nvPr/>
        </p:nvSpPr>
        <p:spPr>
          <a:xfrm>
            <a:off x="0" y="1733549"/>
            <a:ext cx="12192000" cy="3866515"/>
          </a:xfrm>
          <a:prstGeom prst="rect">
            <a:avLst/>
          </a:prstGeom>
          <a:gradFill rotWithShape="1">
            <a:gsLst>
              <a:gs pos="0">
                <a:srgbClr val="2B5895"/>
              </a:gs>
              <a:gs pos="50000">
                <a:srgbClr val="2B5895">
                  <a:alpha val="60000"/>
                </a:srgbClr>
              </a:gs>
              <a:gs pos="100000">
                <a:srgbClr val="2B589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CEC4085-3EBE-4B98-8257-76B7C8D0F548}"/>
              </a:ext>
            </a:extLst>
          </p:cNvPr>
          <p:cNvSpPr>
            <a:spLocks noGrp="1"/>
          </p:cNvSpPr>
          <p:nvPr/>
        </p:nvSpPr>
        <p:spPr>
          <a:xfrm>
            <a:off x="5029200" y="309230"/>
            <a:ext cx="2133600" cy="2133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DE26107-7EB1-4A8B-BF9D-D8933F2DF9E0}"/>
              </a:ext>
            </a:extLst>
          </p:cNvPr>
          <p:cNvSpPr>
            <a:spLocks noGrp="1"/>
          </p:cNvSpPr>
          <p:nvPr/>
        </p:nvSpPr>
        <p:spPr>
          <a:xfrm>
            <a:off x="2425700" y="3137623"/>
            <a:ext cx="3438314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0" b="1"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bg1">
                        <a:alpha val="52000"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alpha val="52000"/>
                      </a:schemeClr>
                    </a:gs>
                  </a:gsLst>
                  <a:lin ang="5400000" scaled="1"/>
                </a:gradFill>
                <a:latin typeface="Times New Roman"/>
                <a:ea typeface="Times New Roman"/>
                <a:cs typeface="Times New Roman"/>
              </a:rPr>
              <a:t>PART 02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0207B3-C0F0-479E-A209-83EFED13E203}"/>
              </a:ext>
            </a:extLst>
          </p:cNvPr>
          <p:cNvSpPr>
            <a:spLocks noGrp="1"/>
          </p:cNvSpPr>
          <p:nvPr/>
        </p:nvSpPr>
        <p:spPr>
          <a:xfrm>
            <a:off x="6503868" y="3370334"/>
            <a:ext cx="357020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bg1">
                        <a:alpha val="52000"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alpha val="52000"/>
                      </a:schemeClr>
                    </a:gs>
                  </a:gsLst>
                  <a:lin ang="5400000" scaled="1"/>
                </a:gradFill>
                <a:latin typeface="方正大标宋_GBK"/>
                <a:ea typeface="方正大标宋_GBK"/>
                <a:cs typeface="方正大标宋_GBK"/>
              </a:rPr>
              <a:t>广义 WOLA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FD826DC-7D69-470A-93B9-81FF6F693F05}"/>
              </a:ext>
            </a:extLst>
          </p:cNvPr>
          <p:cNvSpPr>
            <a:spLocks noGrp="1"/>
          </p:cNvSpPr>
          <p:nvPr/>
        </p:nvSpPr>
        <p:spPr>
          <a:xfrm>
            <a:off x="5928520" y="2998447"/>
            <a:ext cx="44114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chemeClr val="bg1"/>
                </a:solidFill>
              </a:rPr>
              <a:t>|</a:t>
            </a:r>
          </a:p>
        </p:txBody>
      </p:sp>
      <p:pic>
        <p:nvPicPr>
          <p:cNvPr id="25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646" y="363724"/>
            <a:ext cx="2960708" cy="215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764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F4D9D5E4-888F-4756-986B-303D29A562F3}"/>
              </a:ext>
            </a:extLst>
          </p:cNvPr>
          <p:cNvSpPr>
            <a:spLocks noGrp="1"/>
          </p:cNvSpPr>
          <p:nvPr/>
        </p:nvSpPr>
        <p:spPr>
          <a:xfrm flipH="1">
            <a:off x="978568" y="60960"/>
            <a:ext cx="278063" cy="244240"/>
          </a:xfrm>
          <a:prstGeom prst="triangle">
            <a:avLst>
              <a:gd name="adj" fmla="val 53237"/>
            </a:avLst>
          </a:prstGeom>
          <a:solidFill>
            <a:srgbClr val="2B5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8A549014-9AA2-43F1-B69F-0F49D104E49B}"/>
              </a:ext>
            </a:extLst>
          </p:cNvPr>
          <p:cNvSpPr>
            <a:spLocks noGrp="1"/>
          </p:cNvSpPr>
          <p:nvPr/>
        </p:nvSpPr>
        <p:spPr>
          <a:xfrm flipH="1">
            <a:off x="269039" y="64768"/>
            <a:ext cx="278063" cy="244240"/>
          </a:xfrm>
          <a:prstGeom prst="triangle">
            <a:avLst>
              <a:gd name="adj" fmla="val 53237"/>
            </a:avLst>
          </a:prstGeom>
          <a:solidFill>
            <a:srgbClr val="2B5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8C56AF5C-6205-45B4-B90E-C9546C8CA3F3}"/>
              </a:ext>
            </a:extLst>
          </p:cNvPr>
          <p:cNvSpPr>
            <a:spLocks noGrp="1"/>
          </p:cNvSpPr>
          <p:nvPr/>
        </p:nvSpPr>
        <p:spPr>
          <a:xfrm>
            <a:off x="-2" y="183080"/>
            <a:ext cx="9711487" cy="4826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7D13A8BF-D02E-4848-8E88-B93E18216CC7}"/>
              </a:ext>
            </a:extLst>
          </p:cNvPr>
          <p:cNvSpPr>
            <a:spLocks noGrp="1"/>
          </p:cNvSpPr>
          <p:nvPr/>
        </p:nvSpPr>
        <p:spPr>
          <a:xfrm rot="10800000">
            <a:off x="393700" y="65895"/>
            <a:ext cx="723900" cy="691570"/>
          </a:xfrm>
          <a:prstGeom prst="triangl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箭头: V 形 18">
            <a:extLst>
              <a:ext uri="{FF2B5EF4-FFF2-40B4-BE49-F238E27FC236}">
                <a16:creationId xmlns:a16="http://schemas.microsoft.com/office/drawing/2014/main" id="{A7B12869-7FB9-4C12-BB69-0386F2BDFD62}"/>
              </a:ext>
            </a:extLst>
          </p:cNvPr>
          <p:cNvSpPr>
            <a:spLocks noGrp="1"/>
          </p:cNvSpPr>
          <p:nvPr/>
        </p:nvSpPr>
        <p:spPr>
          <a:xfrm>
            <a:off x="9781954" y="183080"/>
            <a:ext cx="431466" cy="482600"/>
          </a:xfrm>
          <a:prstGeom prst="chevron">
            <a:avLst>
              <a:gd name="adj" fmla="val 54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箭头: V 形 19">
            <a:extLst>
              <a:ext uri="{FF2B5EF4-FFF2-40B4-BE49-F238E27FC236}">
                <a16:creationId xmlns:a16="http://schemas.microsoft.com/office/drawing/2014/main" id="{05B9BC0D-3AE9-4823-8739-45F9277DDB9F}"/>
              </a:ext>
            </a:extLst>
          </p:cNvPr>
          <p:cNvSpPr>
            <a:spLocks noGrp="1"/>
          </p:cNvSpPr>
          <p:nvPr/>
        </p:nvSpPr>
        <p:spPr>
          <a:xfrm>
            <a:off x="10155411" y="183080"/>
            <a:ext cx="431466" cy="482600"/>
          </a:xfrm>
          <a:prstGeom prst="chevron">
            <a:avLst>
              <a:gd name="adj" fmla="val 54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B0D7BF-0ED1-46E4-91AE-650BCC239684}"/>
              </a:ext>
            </a:extLst>
          </p:cNvPr>
          <p:cNvSpPr>
            <a:spLocks noGrp="1"/>
          </p:cNvSpPr>
          <p:nvPr/>
        </p:nvSpPr>
        <p:spPr>
          <a:xfrm>
            <a:off x="517832" y="110860"/>
            <a:ext cx="524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chemeClr val="bg1"/>
                </a:solidFill>
                <a:latin typeface="华文行楷"/>
                <a:ea typeface="华文行楷"/>
                <a:cs typeface="华文行楷"/>
              </a:rPr>
              <a:t>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9EA2AD-D8BF-4AE1-8F8D-7322CAD0C678}"/>
              </a:ext>
            </a:extLst>
          </p:cNvPr>
          <p:cNvSpPr>
            <a:spLocks noGrp="1"/>
          </p:cNvSpPr>
          <p:nvPr/>
        </p:nvSpPr>
        <p:spPr>
          <a:xfrm>
            <a:off x="1212308" y="160839"/>
            <a:ext cx="20313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chemeClr val="bg1"/>
                </a:solidFill>
                <a:latin typeface="方正大标宋_GBK"/>
                <a:ea typeface="方正大标宋_GBK"/>
                <a:cs typeface="方正大标宋_GBK"/>
              </a:rPr>
              <a:t>广义 WOLA：释放满带自由度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5370FC6-358A-4403-8D2F-9800918AC1C6}"/>
              </a:ext>
            </a:extLst>
          </p:cNvPr>
          <p:cNvSpPr>
            <a:spLocks noGrp="1"/>
          </p:cNvSpPr>
          <p:nvPr/>
        </p:nvSpPr>
        <p:spPr>
          <a:xfrm>
            <a:off x="5735080" y="1117600"/>
            <a:ext cx="5729095" cy="49911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srgbClr val="2B5895">
                <a:alpha val="8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45F8BEB1-7FED-EADD-3732-7E548791C34C}"/>
              </a:ext>
            </a:extLst>
          </p:cNvPr>
          <p:cNvSpPr>
            <a:spLocks noGrp="1"/>
          </p:cNvSpPr>
          <p:nvPr/>
        </p:nvSpPr>
        <p:spPr>
          <a:xfrm>
            <a:off x="-174544" y="6646985"/>
            <a:ext cx="7864882" cy="211015"/>
          </a:xfrm>
          <a:prstGeom prst="parallelogram">
            <a:avLst>
              <a:gd name="adj" fmla="val 3946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3E799480-0CCE-8011-B7FD-4529BC94B6CF}"/>
              </a:ext>
            </a:extLst>
          </p:cNvPr>
          <p:cNvSpPr>
            <a:spLocks noGrp="1"/>
          </p:cNvSpPr>
          <p:nvPr/>
        </p:nvSpPr>
        <p:spPr>
          <a:xfrm>
            <a:off x="7690338" y="6277086"/>
            <a:ext cx="410308" cy="594430"/>
          </a:xfrm>
          <a:prstGeom prst="parallelogram">
            <a:avLst>
              <a:gd name="adj" fmla="val 6072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03F4371B-AFE8-9C8F-16E6-352028502490}"/>
              </a:ext>
            </a:extLst>
          </p:cNvPr>
          <p:cNvSpPr>
            <a:spLocks noGrp="1"/>
          </p:cNvSpPr>
          <p:nvPr/>
        </p:nvSpPr>
        <p:spPr>
          <a:xfrm>
            <a:off x="8026278" y="6293056"/>
            <a:ext cx="4470522" cy="564944"/>
          </a:xfrm>
          <a:prstGeom prst="parallelogram">
            <a:avLst>
              <a:gd name="adj" fmla="val 415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latin typeface="华文楷体"/>
                <a:ea typeface="华文楷体"/>
                <a:cs typeface="华文楷体"/>
              </a:rPr>
              <a:t>广义 WOLA  ·  Cₖ(z)</a:t>
            </a:r>
          </a:p>
        </p:txBody>
      </p:sp>
      <p:pic>
        <p:nvPicPr>
          <p:cNvPr id="60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42" y="722383"/>
            <a:ext cx="3895418" cy="2322449"/>
          </a:xfrm>
          <a:prstGeom prst="rect">
            <a:avLst/>
          </a:prstGeom>
        </p:spPr>
      </p:pic>
      <p:pic>
        <p:nvPicPr>
          <p:cNvPr id="61" name="图片 12"/>
          <p:cNvPicPr>
            <a:picLocks noChangeAspect="1"/>
          </p:cNvPicPr>
          <p:nvPr/>
        </p:nvPicPr>
        <p:blipFill>
          <a:blip r:embed="rId4"/>
          <a:srcRect l="4305" t="4445" r="5833"/>
          <a:stretch>
            <a:fillRect/>
          </a:stretch>
        </p:blipFill>
        <p:spPr>
          <a:xfrm>
            <a:off x="517832" y="3033445"/>
            <a:ext cx="4299039" cy="3428600"/>
          </a:xfrm>
          <a:prstGeom prst="rect">
            <a:avLst/>
          </a:prstGeom>
        </p:spPr>
      </p:pic>
      <p:sp>
        <p:nvSpPr>
          <p:cNvPr id="41" name="Rectangle 6">
            <a:extLst>
              <a:ext uri="{FF2B5EF4-FFF2-40B4-BE49-F238E27FC236}">
                <a16:creationId xmlns:a16="http://schemas.microsoft.com/office/drawing/2014/main" id="{B8816A37-A6B2-1804-F738-3D00721275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  <p:sp>
        <p:nvSpPr>
          <p:cNvPr id="42" name="文本框 1">
            <a:extLst>
              <a:ext uri="{FF2B5EF4-FFF2-40B4-BE49-F238E27FC236}">
                <a16:creationId xmlns:a16="http://schemas.microsoft.com/office/drawing/2014/main" id="{231C93A2-66A0-629E-F78C-CAA0428CD3AC}"/>
              </a:ext>
            </a:extLst>
          </p:cNvPr>
          <p:cNvSpPr>
            <a:spLocks noGrp="1"/>
          </p:cNvSpPr>
          <p:nvPr/>
        </p:nvSpPr>
        <p:spPr>
          <a:xfrm>
            <a:off x="2529205" y="9554210"/>
            <a:ext cx="2640330" cy="180975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anchor="t">
            <a:spAutoFit/>
          </a:bodyPr>
          <a:lstStyle/>
          <a:p>
            <a:pPr algn="ctr">
              <a:buNone/>
            </a:pPr>
            <a:r>
              <a:rPr sz="1100">
                <a:latin typeface="宋体"/>
                <a:ea typeface="宋体"/>
                <a:cs typeface="宋体"/>
              </a:rPr>
              <a:t> </a:t>
            </a:r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B2A85B2D-A98E-15F1-828E-2925C8949E44}"/>
              </a:ext>
            </a:extLst>
          </p:cNvPr>
          <p:cNvSpPr>
            <a:spLocks noGrp="1"/>
          </p:cNvSpPr>
          <p:nvPr/>
        </p:nvSpPr>
        <p:spPr>
          <a:xfrm rot="10800000" flipV="1">
            <a:off x="5969544" y="1231861"/>
            <a:ext cx="5099413" cy="44319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核心改动只有一个：把子带滤波器移到降采样之前。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传统：Cₖ(zᴰ)（稀疏）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广义：Cₖ(z)（不再受零点约束）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宋体"/>
              <a:ea typeface="宋体"/>
              <a:cs typeface="宋体"/>
            </a:endParaRP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每个子带因此拥有完整的 T 阶 FIR 自由度，同时通过完美重构的分析/合成滤波器保持整体框架。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宋体"/>
              <a:ea typeface="宋体"/>
              <a:cs typeface="宋体"/>
            </a:endParaRP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代价也很明确：满速率处理需要 T 次窗口化 IDFT，复杂度从“可接受”变成“难以直接部署”。</a:t>
            </a:r>
          </a:p>
        </p:txBody>
      </p:sp>
    </p:spTree>
    <p:extLst>
      <p:ext uri="{BB962C8B-B14F-4D97-AF65-F5344CB8AC3E}">
        <p14:creationId xmlns:p14="http://schemas.microsoft.com/office/powerpoint/2010/main" val="1965970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F4D9D5E4-888F-4756-986B-303D29A562F3}"/>
              </a:ext>
            </a:extLst>
          </p:cNvPr>
          <p:cNvSpPr>
            <a:spLocks noGrp="1"/>
          </p:cNvSpPr>
          <p:nvPr/>
        </p:nvSpPr>
        <p:spPr>
          <a:xfrm flipH="1">
            <a:off x="978568" y="60960"/>
            <a:ext cx="278063" cy="244240"/>
          </a:xfrm>
          <a:prstGeom prst="triangle">
            <a:avLst>
              <a:gd name="adj" fmla="val 53237"/>
            </a:avLst>
          </a:prstGeom>
          <a:solidFill>
            <a:srgbClr val="2B5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8A549014-9AA2-43F1-B69F-0F49D104E49B}"/>
              </a:ext>
            </a:extLst>
          </p:cNvPr>
          <p:cNvSpPr>
            <a:spLocks noGrp="1"/>
          </p:cNvSpPr>
          <p:nvPr/>
        </p:nvSpPr>
        <p:spPr>
          <a:xfrm flipH="1">
            <a:off x="269039" y="64768"/>
            <a:ext cx="278063" cy="244240"/>
          </a:xfrm>
          <a:prstGeom prst="triangle">
            <a:avLst>
              <a:gd name="adj" fmla="val 53237"/>
            </a:avLst>
          </a:prstGeom>
          <a:solidFill>
            <a:srgbClr val="2B5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8C56AF5C-6205-45B4-B90E-C9546C8CA3F3}"/>
              </a:ext>
            </a:extLst>
          </p:cNvPr>
          <p:cNvSpPr>
            <a:spLocks noGrp="1"/>
          </p:cNvSpPr>
          <p:nvPr/>
        </p:nvSpPr>
        <p:spPr>
          <a:xfrm>
            <a:off x="-2" y="183080"/>
            <a:ext cx="9711487" cy="4826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7D13A8BF-D02E-4848-8E88-B93E18216CC7}"/>
              </a:ext>
            </a:extLst>
          </p:cNvPr>
          <p:cNvSpPr>
            <a:spLocks noGrp="1"/>
          </p:cNvSpPr>
          <p:nvPr/>
        </p:nvSpPr>
        <p:spPr>
          <a:xfrm rot="10800000">
            <a:off x="393700" y="65895"/>
            <a:ext cx="723900" cy="691570"/>
          </a:xfrm>
          <a:prstGeom prst="triangl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箭头: V 形 18">
            <a:extLst>
              <a:ext uri="{FF2B5EF4-FFF2-40B4-BE49-F238E27FC236}">
                <a16:creationId xmlns:a16="http://schemas.microsoft.com/office/drawing/2014/main" id="{A7B12869-7FB9-4C12-BB69-0386F2BDFD62}"/>
              </a:ext>
            </a:extLst>
          </p:cNvPr>
          <p:cNvSpPr>
            <a:spLocks noGrp="1"/>
          </p:cNvSpPr>
          <p:nvPr/>
        </p:nvSpPr>
        <p:spPr>
          <a:xfrm>
            <a:off x="9781954" y="183080"/>
            <a:ext cx="431466" cy="482600"/>
          </a:xfrm>
          <a:prstGeom prst="chevron">
            <a:avLst>
              <a:gd name="adj" fmla="val 54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箭头: V 形 19">
            <a:extLst>
              <a:ext uri="{FF2B5EF4-FFF2-40B4-BE49-F238E27FC236}">
                <a16:creationId xmlns:a16="http://schemas.microsoft.com/office/drawing/2014/main" id="{05B9BC0D-3AE9-4823-8739-45F9277DDB9F}"/>
              </a:ext>
            </a:extLst>
          </p:cNvPr>
          <p:cNvSpPr>
            <a:spLocks noGrp="1"/>
          </p:cNvSpPr>
          <p:nvPr/>
        </p:nvSpPr>
        <p:spPr>
          <a:xfrm>
            <a:off x="10155411" y="183080"/>
            <a:ext cx="431466" cy="482600"/>
          </a:xfrm>
          <a:prstGeom prst="chevron">
            <a:avLst>
              <a:gd name="adj" fmla="val 54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B0D7BF-0ED1-46E4-91AE-650BCC239684}"/>
              </a:ext>
            </a:extLst>
          </p:cNvPr>
          <p:cNvSpPr>
            <a:spLocks noGrp="1"/>
          </p:cNvSpPr>
          <p:nvPr/>
        </p:nvSpPr>
        <p:spPr>
          <a:xfrm>
            <a:off x="517832" y="110860"/>
            <a:ext cx="524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chemeClr val="bg1"/>
                </a:solidFill>
                <a:latin typeface="华文行楷"/>
                <a:ea typeface="华文行楷"/>
                <a:cs typeface="华文行楷"/>
              </a:rPr>
              <a:t>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9EA2AD-D8BF-4AE1-8F8D-7322CAD0C678}"/>
              </a:ext>
            </a:extLst>
          </p:cNvPr>
          <p:cNvSpPr>
            <a:spLocks noGrp="1"/>
          </p:cNvSpPr>
          <p:nvPr/>
        </p:nvSpPr>
        <p:spPr>
          <a:xfrm>
            <a:off x="1212308" y="160839"/>
            <a:ext cx="20313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chemeClr val="bg1"/>
                </a:solidFill>
                <a:latin typeface="方正大标宋_GBK"/>
                <a:ea typeface="方正大标宋_GBK"/>
                <a:cs typeface="方正大标宋_GBK"/>
              </a:rPr>
              <a:t>MSE / ERLE 由四个设计变量共同决定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5370FC6-358A-4403-8D2F-9800918AC1C6}"/>
              </a:ext>
            </a:extLst>
          </p:cNvPr>
          <p:cNvSpPr>
            <a:spLocks noGrp="1"/>
          </p:cNvSpPr>
          <p:nvPr/>
        </p:nvSpPr>
        <p:spPr>
          <a:xfrm>
            <a:off x="5735080" y="1117600"/>
            <a:ext cx="5729095" cy="49911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srgbClr val="2B5895">
                <a:alpha val="8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45F8BEB1-7FED-EADD-3732-7E548791C34C}"/>
              </a:ext>
            </a:extLst>
          </p:cNvPr>
          <p:cNvSpPr>
            <a:spLocks noGrp="1"/>
          </p:cNvSpPr>
          <p:nvPr/>
        </p:nvSpPr>
        <p:spPr>
          <a:xfrm>
            <a:off x="-174544" y="6646985"/>
            <a:ext cx="7864882" cy="211015"/>
          </a:xfrm>
          <a:prstGeom prst="parallelogram">
            <a:avLst>
              <a:gd name="adj" fmla="val 3946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3E799480-0CCE-8011-B7FD-4529BC94B6CF}"/>
              </a:ext>
            </a:extLst>
          </p:cNvPr>
          <p:cNvSpPr>
            <a:spLocks noGrp="1"/>
          </p:cNvSpPr>
          <p:nvPr/>
        </p:nvSpPr>
        <p:spPr>
          <a:xfrm>
            <a:off x="7690338" y="6277086"/>
            <a:ext cx="410308" cy="594430"/>
          </a:xfrm>
          <a:prstGeom prst="parallelogram">
            <a:avLst>
              <a:gd name="adj" fmla="val 6072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03F4371B-AFE8-9C8F-16E6-352028502490}"/>
              </a:ext>
            </a:extLst>
          </p:cNvPr>
          <p:cNvSpPr>
            <a:spLocks noGrp="1"/>
          </p:cNvSpPr>
          <p:nvPr/>
        </p:nvSpPr>
        <p:spPr>
          <a:xfrm>
            <a:off x="8026278" y="6293056"/>
            <a:ext cx="4470522" cy="564944"/>
          </a:xfrm>
          <a:prstGeom prst="parallelogram">
            <a:avLst>
              <a:gd name="adj" fmla="val 415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latin typeface="华文楷体"/>
                <a:ea typeface="华文楷体"/>
                <a:cs typeface="华文楷体"/>
              </a:rPr>
              <a:t>理论变量  ·  T、L、D</a:t>
            </a:r>
          </a:p>
        </p:txBody>
      </p:sp>
      <p:pic>
        <p:nvPicPr>
          <p:cNvPr id="60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42" y="722383"/>
            <a:ext cx="3895418" cy="2322449"/>
          </a:xfrm>
          <a:prstGeom prst="rect">
            <a:avLst/>
          </a:prstGeom>
        </p:spPr>
      </p:pic>
      <p:pic>
        <p:nvPicPr>
          <p:cNvPr id="61" name="图片 12"/>
          <p:cNvPicPr>
            <a:picLocks noChangeAspect="1"/>
          </p:cNvPicPr>
          <p:nvPr/>
        </p:nvPicPr>
        <p:blipFill>
          <a:blip r:embed="rId4"/>
          <a:srcRect l="4305" t="4445" r="5833"/>
          <a:stretch>
            <a:fillRect/>
          </a:stretch>
        </p:blipFill>
        <p:spPr>
          <a:xfrm>
            <a:off x="517832" y="3033445"/>
            <a:ext cx="4299039" cy="3428600"/>
          </a:xfrm>
          <a:prstGeom prst="rect">
            <a:avLst/>
          </a:prstGeom>
        </p:spPr>
      </p:pic>
      <p:sp>
        <p:nvSpPr>
          <p:cNvPr id="41" name="Rectangle 6">
            <a:extLst>
              <a:ext uri="{FF2B5EF4-FFF2-40B4-BE49-F238E27FC236}">
                <a16:creationId xmlns:a16="http://schemas.microsoft.com/office/drawing/2014/main" id="{B8816A37-A6B2-1804-F738-3D00721275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  <p:sp>
        <p:nvSpPr>
          <p:cNvPr id="42" name="文本框 1">
            <a:extLst>
              <a:ext uri="{FF2B5EF4-FFF2-40B4-BE49-F238E27FC236}">
                <a16:creationId xmlns:a16="http://schemas.microsoft.com/office/drawing/2014/main" id="{231C93A2-66A0-629E-F78C-CAA0428CD3AC}"/>
              </a:ext>
            </a:extLst>
          </p:cNvPr>
          <p:cNvSpPr>
            <a:spLocks noGrp="1"/>
          </p:cNvSpPr>
          <p:nvPr/>
        </p:nvSpPr>
        <p:spPr>
          <a:xfrm>
            <a:off x="2529205" y="9554210"/>
            <a:ext cx="2640330" cy="180975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anchor="t">
            <a:spAutoFit/>
          </a:bodyPr>
          <a:lstStyle/>
          <a:p>
            <a:pPr algn="ctr">
              <a:buNone/>
            </a:pPr>
            <a:r>
              <a:rPr sz="1100">
                <a:latin typeface="宋体"/>
                <a:ea typeface="宋体"/>
                <a:cs typeface="宋体"/>
              </a:rPr>
              <a:t> </a:t>
            </a:r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B2A85B2D-A98E-15F1-828E-2925C8949E44}"/>
              </a:ext>
            </a:extLst>
          </p:cNvPr>
          <p:cNvSpPr>
            <a:spLocks noGrp="1"/>
          </p:cNvSpPr>
          <p:nvPr/>
        </p:nvSpPr>
        <p:spPr>
          <a:xfrm rot="10800000" flipV="1">
            <a:off x="5969544" y="1231861"/>
            <a:ext cx="5099413" cy="44319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广义 WOLA 的稳态性能不是单一参数决定的：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子带阶数 T：增大 T，满带建模误差下降。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系统长度 L：L 越长，低阶子带滤波器越难覆盖。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抽取因子 D：改变混叠项数量与整体延迟。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原型分析/合成滤波器：决定频率选择性与循环卷积失真。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宋体"/>
              <a:ea typeface="宋体"/>
              <a:cs typeface="宋体"/>
            </a:endParaRP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结论不是“阶数越大越好”，而是在失真与混叠之间寻找平衡。</a:t>
            </a:r>
          </a:p>
        </p:txBody>
      </p:sp>
    </p:spTree>
    <p:extLst>
      <p:ext uri="{BB962C8B-B14F-4D97-AF65-F5344CB8AC3E}">
        <p14:creationId xmlns:p14="http://schemas.microsoft.com/office/powerpoint/2010/main" val="1965970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F4D9D5E4-888F-4756-986B-303D29A562F3}"/>
              </a:ext>
            </a:extLst>
          </p:cNvPr>
          <p:cNvSpPr>
            <a:spLocks noGrp="1"/>
          </p:cNvSpPr>
          <p:nvPr/>
        </p:nvSpPr>
        <p:spPr>
          <a:xfrm flipH="1">
            <a:off x="978568" y="60960"/>
            <a:ext cx="278063" cy="244240"/>
          </a:xfrm>
          <a:prstGeom prst="triangle">
            <a:avLst>
              <a:gd name="adj" fmla="val 53237"/>
            </a:avLst>
          </a:prstGeom>
          <a:solidFill>
            <a:srgbClr val="2B5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8A549014-9AA2-43F1-B69F-0F49D104E49B}"/>
              </a:ext>
            </a:extLst>
          </p:cNvPr>
          <p:cNvSpPr>
            <a:spLocks noGrp="1"/>
          </p:cNvSpPr>
          <p:nvPr/>
        </p:nvSpPr>
        <p:spPr>
          <a:xfrm flipH="1">
            <a:off x="269039" y="64768"/>
            <a:ext cx="278063" cy="244240"/>
          </a:xfrm>
          <a:prstGeom prst="triangle">
            <a:avLst>
              <a:gd name="adj" fmla="val 53237"/>
            </a:avLst>
          </a:prstGeom>
          <a:solidFill>
            <a:srgbClr val="2B5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8C56AF5C-6205-45B4-B90E-C9546C8CA3F3}"/>
              </a:ext>
            </a:extLst>
          </p:cNvPr>
          <p:cNvSpPr>
            <a:spLocks noGrp="1"/>
          </p:cNvSpPr>
          <p:nvPr/>
        </p:nvSpPr>
        <p:spPr>
          <a:xfrm>
            <a:off x="-2" y="183080"/>
            <a:ext cx="9711487" cy="4826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7D13A8BF-D02E-4848-8E88-B93E18216CC7}"/>
              </a:ext>
            </a:extLst>
          </p:cNvPr>
          <p:cNvSpPr>
            <a:spLocks noGrp="1"/>
          </p:cNvSpPr>
          <p:nvPr/>
        </p:nvSpPr>
        <p:spPr>
          <a:xfrm rot="10800000">
            <a:off x="393700" y="65895"/>
            <a:ext cx="723900" cy="691570"/>
          </a:xfrm>
          <a:prstGeom prst="triangl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箭头: V 形 18">
            <a:extLst>
              <a:ext uri="{FF2B5EF4-FFF2-40B4-BE49-F238E27FC236}">
                <a16:creationId xmlns:a16="http://schemas.microsoft.com/office/drawing/2014/main" id="{A7B12869-7FB9-4C12-BB69-0386F2BDFD62}"/>
              </a:ext>
            </a:extLst>
          </p:cNvPr>
          <p:cNvSpPr>
            <a:spLocks noGrp="1"/>
          </p:cNvSpPr>
          <p:nvPr/>
        </p:nvSpPr>
        <p:spPr>
          <a:xfrm>
            <a:off x="9781954" y="183080"/>
            <a:ext cx="431466" cy="482600"/>
          </a:xfrm>
          <a:prstGeom prst="chevron">
            <a:avLst>
              <a:gd name="adj" fmla="val 54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箭头: V 形 19">
            <a:extLst>
              <a:ext uri="{FF2B5EF4-FFF2-40B4-BE49-F238E27FC236}">
                <a16:creationId xmlns:a16="http://schemas.microsoft.com/office/drawing/2014/main" id="{05B9BC0D-3AE9-4823-8739-45F9277DDB9F}"/>
              </a:ext>
            </a:extLst>
          </p:cNvPr>
          <p:cNvSpPr>
            <a:spLocks noGrp="1"/>
          </p:cNvSpPr>
          <p:nvPr/>
        </p:nvSpPr>
        <p:spPr>
          <a:xfrm>
            <a:off x="10155411" y="183080"/>
            <a:ext cx="431466" cy="482600"/>
          </a:xfrm>
          <a:prstGeom prst="chevron">
            <a:avLst>
              <a:gd name="adj" fmla="val 54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B0D7BF-0ED1-46E4-91AE-650BCC239684}"/>
              </a:ext>
            </a:extLst>
          </p:cNvPr>
          <p:cNvSpPr>
            <a:spLocks noGrp="1"/>
          </p:cNvSpPr>
          <p:nvPr/>
        </p:nvSpPr>
        <p:spPr>
          <a:xfrm>
            <a:off x="517832" y="110860"/>
            <a:ext cx="524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chemeClr val="bg1"/>
                </a:solidFill>
                <a:latin typeface="华文行楷"/>
                <a:ea typeface="华文行楷"/>
                <a:cs typeface="华文行楷"/>
              </a:rPr>
              <a:t>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9EA2AD-D8BF-4AE1-8F8D-7322CAD0C678}"/>
              </a:ext>
            </a:extLst>
          </p:cNvPr>
          <p:cNvSpPr>
            <a:spLocks noGrp="1"/>
          </p:cNvSpPr>
          <p:nvPr/>
        </p:nvSpPr>
        <p:spPr>
          <a:xfrm>
            <a:off x="1212308" y="160839"/>
            <a:ext cx="20313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chemeClr val="bg1"/>
                </a:solidFill>
                <a:latin typeface="方正大标宋_GBK"/>
                <a:ea typeface="方正大标宋_GBK"/>
                <a:cs typeface="方正大标宋_GBK"/>
              </a:rPr>
              <a:t>PT-WOLA：用结构化近似把复杂度拉回可部署范围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5370FC6-358A-4403-8D2F-9800918AC1C6}"/>
              </a:ext>
            </a:extLst>
          </p:cNvPr>
          <p:cNvSpPr>
            <a:spLocks noGrp="1"/>
          </p:cNvSpPr>
          <p:nvPr/>
        </p:nvSpPr>
        <p:spPr>
          <a:xfrm>
            <a:off x="5735080" y="1117600"/>
            <a:ext cx="5729095" cy="49911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srgbClr val="2B5895">
                <a:alpha val="8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45F8BEB1-7FED-EADD-3732-7E548791C34C}"/>
              </a:ext>
            </a:extLst>
          </p:cNvPr>
          <p:cNvSpPr>
            <a:spLocks noGrp="1"/>
          </p:cNvSpPr>
          <p:nvPr/>
        </p:nvSpPr>
        <p:spPr>
          <a:xfrm>
            <a:off x="-174544" y="6646985"/>
            <a:ext cx="7864882" cy="211015"/>
          </a:xfrm>
          <a:prstGeom prst="parallelogram">
            <a:avLst>
              <a:gd name="adj" fmla="val 3946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3E799480-0CCE-8011-B7FD-4529BC94B6CF}"/>
              </a:ext>
            </a:extLst>
          </p:cNvPr>
          <p:cNvSpPr>
            <a:spLocks noGrp="1"/>
          </p:cNvSpPr>
          <p:nvPr/>
        </p:nvSpPr>
        <p:spPr>
          <a:xfrm>
            <a:off x="7690338" y="6277086"/>
            <a:ext cx="410308" cy="594430"/>
          </a:xfrm>
          <a:prstGeom prst="parallelogram">
            <a:avLst>
              <a:gd name="adj" fmla="val 6072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03F4371B-AFE8-9C8F-16E6-352028502490}"/>
              </a:ext>
            </a:extLst>
          </p:cNvPr>
          <p:cNvSpPr>
            <a:spLocks noGrp="1"/>
          </p:cNvSpPr>
          <p:nvPr/>
        </p:nvSpPr>
        <p:spPr>
          <a:xfrm>
            <a:off x="8026278" y="6293056"/>
            <a:ext cx="4470522" cy="564944"/>
          </a:xfrm>
          <a:prstGeom prst="parallelogram">
            <a:avLst>
              <a:gd name="adj" fmla="val 415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latin typeface="华文楷体"/>
                <a:ea typeface="华文楷体"/>
                <a:cs typeface="华文楷体"/>
              </a:rPr>
              <a:t>PT-WOLA  ·  低复杂度</a:t>
            </a:r>
          </a:p>
        </p:txBody>
      </p:sp>
      <p:pic>
        <p:nvPicPr>
          <p:cNvPr id="60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42" y="722383"/>
            <a:ext cx="3895418" cy="2322449"/>
          </a:xfrm>
          <a:prstGeom prst="rect">
            <a:avLst/>
          </a:prstGeom>
        </p:spPr>
      </p:pic>
      <p:pic>
        <p:nvPicPr>
          <p:cNvPr id="61" name="图片 12"/>
          <p:cNvPicPr>
            <a:picLocks noChangeAspect="1"/>
          </p:cNvPicPr>
          <p:nvPr/>
        </p:nvPicPr>
        <p:blipFill>
          <a:blip r:embed="rId4"/>
          <a:srcRect l="4305" t="4445" r="5833"/>
          <a:stretch>
            <a:fillRect/>
          </a:stretch>
        </p:blipFill>
        <p:spPr>
          <a:xfrm>
            <a:off x="517832" y="3033445"/>
            <a:ext cx="4299039" cy="3428600"/>
          </a:xfrm>
          <a:prstGeom prst="rect">
            <a:avLst/>
          </a:prstGeom>
        </p:spPr>
      </p:pic>
      <p:sp>
        <p:nvSpPr>
          <p:cNvPr id="41" name="Rectangle 6">
            <a:extLst>
              <a:ext uri="{FF2B5EF4-FFF2-40B4-BE49-F238E27FC236}">
                <a16:creationId xmlns:a16="http://schemas.microsoft.com/office/drawing/2014/main" id="{B8816A37-A6B2-1804-F738-3D00721275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  <p:sp>
        <p:nvSpPr>
          <p:cNvPr id="42" name="文本框 1">
            <a:extLst>
              <a:ext uri="{FF2B5EF4-FFF2-40B4-BE49-F238E27FC236}">
                <a16:creationId xmlns:a16="http://schemas.microsoft.com/office/drawing/2014/main" id="{231C93A2-66A0-629E-F78C-CAA0428CD3AC}"/>
              </a:ext>
            </a:extLst>
          </p:cNvPr>
          <p:cNvSpPr>
            <a:spLocks noGrp="1"/>
          </p:cNvSpPr>
          <p:nvPr/>
        </p:nvSpPr>
        <p:spPr>
          <a:xfrm>
            <a:off x="2529205" y="9554210"/>
            <a:ext cx="2640330" cy="180975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anchor="t">
            <a:spAutoFit/>
          </a:bodyPr>
          <a:lstStyle/>
          <a:p>
            <a:pPr algn="ctr">
              <a:buNone/>
            </a:pPr>
            <a:r>
              <a:rPr sz="1100">
                <a:latin typeface="宋体"/>
                <a:ea typeface="宋体"/>
                <a:cs typeface="宋体"/>
              </a:rPr>
              <a:t> </a:t>
            </a:r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B2A85B2D-A98E-15F1-828E-2925C8949E44}"/>
              </a:ext>
            </a:extLst>
          </p:cNvPr>
          <p:cNvSpPr>
            <a:spLocks noGrp="1"/>
          </p:cNvSpPr>
          <p:nvPr/>
        </p:nvSpPr>
        <p:spPr>
          <a:xfrm rot="10800000" flipV="1">
            <a:off x="5969544" y="1231861"/>
            <a:ext cx="5099413" cy="44319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PT-WOLA 将广义 WOLA 的计算拆成更便宜的组合：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广义 WOLA：每帧 T 次窗口化 IDFT。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PT-WOLA：1 次非窗口化 IDFT + T−1 个差分项 + 2R 个跨子带项。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典型 N ≫ T 时，复杂度近似 O(N log₂N)，与传统 WOLA 同阶。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宋体"/>
              <a:ea typeface="宋体"/>
              <a:cs typeface="宋体"/>
            </a:endParaRP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R 由原型分析窗决定：矩形窗 R=0、余弦窗 R=1、root-Hann 需要更多项。</a:t>
            </a:r>
          </a:p>
        </p:txBody>
      </p:sp>
    </p:spTree>
    <p:extLst>
      <p:ext uri="{BB962C8B-B14F-4D97-AF65-F5344CB8AC3E}">
        <p14:creationId xmlns:p14="http://schemas.microsoft.com/office/powerpoint/2010/main" val="1965970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6"/>
          <p:cNvPicPr>
            <a:picLocks noChangeAspect="1"/>
          </p:cNvPicPr>
          <p:nvPr/>
        </p:nvPicPr>
        <p:blipFill rotWithShape="1">
          <a:blip r:embed="rId3"/>
          <a:srcRect t="25247" b="18350"/>
          <a:stretch/>
        </p:blipFill>
        <p:spPr>
          <a:xfrm>
            <a:off x="1575" y="1733548"/>
            <a:ext cx="12188849" cy="386651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98E7558-33B2-FCDA-FAD6-653DCB532CB6}"/>
              </a:ext>
            </a:extLst>
          </p:cNvPr>
          <p:cNvSpPr>
            <a:spLocks noGrp="1"/>
          </p:cNvSpPr>
          <p:nvPr/>
        </p:nvSpPr>
        <p:spPr>
          <a:xfrm>
            <a:off x="0" y="1733549"/>
            <a:ext cx="12192000" cy="3866515"/>
          </a:xfrm>
          <a:prstGeom prst="rect">
            <a:avLst/>
          </a:prstGeom>
          <a:gradFill rotWithShape="1">
            <a:gsLst>
              <a:gs pos="0">
                <a:srgbClr val="2B5895"/>
              </a:gs>
              <a:gs pos="50000">
                <a:srgbClr val="2B5895">
                  <a:alpha val="60000"/>
                </a:srgbClr>
              </a:gs>
              <a:gs pos="100000">
                <a:srgbClr val="2B589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3224379-0178-D964-4A66-149C47758946}"/>
              </a:ext>
            </a:extLst>
          </p:cNvPr>
          <p:cNvSpPr>
            <a:spLocks noGrp="1"/>
          </p:cNvSpPr>
          <p:nvPr/>
        </p:nvSpPr>
        <p:spPr>
          <a:xfrm>
            <a:off x="5029200" y="309230"/>
            <a:ext cx="2133600" cy="2133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E46B204-1A1C-AF34-CC48-CDB90D3D0C17}"/>
              </a:ext>
            </a:extLst>
          </p:cNvPr>
          <p:cNvSpPr>
            <a:spLocks noGrp="1"/>
          </p:cNvSpPr>
          <p:nvPr/>
        </p:nvSpPr>
        <p:spPr>
          <a:xfrm>
            <a:off x="2425700" y="3137623"/>
            <a:ext cx="3438314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0" b="1"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bg1">
                        <a:alpha val="52000"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alpha val="52000"/>
                      </a:schemeClr>
                    </a:gs>
                  </a:gsLst>
                  <a:lin ang="5400000" scaled="1"/>
                </a:gradFill>
                <a:latin typeface="Times New Roman"/>
                <a:ea typeface="Times New Roman"/>
                <a:cs typeface="Times New Roman"/>
              </a:rPr>
              <a:t>PART 03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2F2935-D442-3CB4-D26C-9BBBB9257017}"/>
              </a:ext>
            </a:extLst>
          </p:cNvPr>
          <p:cNvSpPr>
            <a:spLocks noGrp="1"/>
          </p:cNvSpPr>
          <p:nvPr/>
        </p:nvSpPr>
        <p:spPr>
          <a:xfrm>
            <a:off x="6503868" y="3370334"/>
            <a:ext cx="244169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bg1">
                        <a:alpha val="52000"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alpha val="52000"/>
                      </a:schemeClr>
                    </a:gs>
                  </a:gsLst>
                  <a:lin ang="5400000" scaled="1"/>
                </a:gradFill>
                <a:latin typeface="方正大标宋_GBK"/>
                <a:ea typeface="方正大标宋_GBK"/>
                <a:cs typeface="方正大标宋_GBK"/>
              </a:rPr>
              <a:t>AEC 仿真与结果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FC38F7-2353-34C7-587A-AD1146D7DE55}"/>
              </a:ext>
            </a:extLst>
          </p:cNvPr>
          <p:cNvSpPr>
            <a:spLocks noGrp="1"/>
          </p:cNvSpPr>
          <p:nvPr/>
        </p:nvSpPr>
        <p:spPr>
          <a:xfrm>
            <a:off x="5928520" y="2998447"/>
            <a:ext cx="44114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chemeClr val="bg1"/>
                </a:solidFill>
              </a:rPr>
              <a:t>|</a:t>
            </a:r>
          </a:p>
        </p:txBody>
      </p:sp>
      <p:pic>
        <p:nvPicPr>
          <p:cNvPr id="25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646" y="363724"/>
            <a:ext cx="2960708" cy="215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03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3A9C338B-9678-C405-13E5-4850CA66BAA2}"/>
              </a:ext>
            </a:extLst>
          </p:cNvPr>
          <p:cNvSpPr>
            <a:spLocks noGrp="1"/>
          </p:cNvSpPr>
          <p:nvPr/>
        </p:nvSpPr>
        <p:spPr>
          <a:xfrm flipH="1">
            <a:off x="978568" y="60960"/>
            <a:ext cx="278063" cy="244240"/>
          </a:xfrm>
          <a:prstGeom prst="triangle">
            <a:avLst>
              <a:gd name="adj" fmla="val 53237"/>
            </a:avLst>
          </a:prstGeom>
          <a:solidFill>
            <a:srgbClr val="2B5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25B0CF5F-EF34-591B-C335-7E95730392F9}"/>
              </a:ext>
            </a:extLst>
          </p:cNvPr>
          <p:cNvSpPr>
            <a:spLocks noGrp="1"/>
          </p:cNvSpPr>
          <p:nvPr/>
        </p:nvSpPr>
        <p:spPr>
          <a:xfrm flipH="1">
            <a:off x="269039" y="64768"/>
            <a:ext cx="278063" cy="244240"/>
          </a:xfrm>
          <a:prstGeom prst="triangle">
            <a:avLst>
              <a:gd name="adj" fmla="val 53237"/>
            </a:avLst>
          </a:prstGeom>
          <a:solidFill>
            <a:srgbClr val="2B5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84D33917-AC50-71C6-E98C-824C2A0B3E91}"/>
              </a:ext>
            </a:extLst>
          </p:cNvPr>
          <p:cNvSpPr>
            <a:spLocks noGrp="1"/>
          </p:cNvSpPr>
          <p:nvPr/>
        </p:nvSpPr>
        <p:spPr>
          <a:xfrm>
            <a:off x="-2" y="183080"/>
            <a:ext cx="9711487" cy="4826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7F77377C-9C3C-98F5-23A3-579E3331A262}"/>
              </a:ext>
            </a:extLst>
          </p:cNvPr>
          <p:cNvSpPr>
            <a:spLocks noGrp="1"/>
          </p:cNvSpPr>
          <p:nvPr/>
        </p:nvSpPr>
        <p:spPr>
          <a:xfrm rot="10800000">
            <a:off x="393700" y="65895"/>
            <a:ext cx="723900" cy="691570"/>
          </a:xfrm>
          <a:prstGeom prst="triangl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箭头: V 形 18">
            <a:extLst>
              <a:ext uri="{FF2B5EF4-FFF2-40B4-BE49-F238E27FC236}">
                <a16:creationId xmlns:a16="http://schemas.microsoft.com/office/drawing/2014/main" id="{E4F46EB0-10DE-01B5-D017-955D67CA84FA}"/>
              </a:ext>
            </a:extLst>
          </p:cNvPr>
          <p:cNvSpPr>
            <a:spLocks noGrp="1"/>
          </p:cNvSpPr>
          <p:nvPr/>
        </p:nvSpPr>
        <p:spPr>
          <a:xfrm>
            <a:off x="9781954" y="183080"/>
            <a:ext cx="431466" cy="482600"/>
          </a:xfrm>
          <a:prstGeom prst="chevron">
            <a:avLst>
              <a:gd name="adj" fmla="val 54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箭头: V 形 19">
            <a:extLst>
              <a:ext uri="{FF2B5EF4-FFF2-40B4-BE49-F238E27FC236}">
                <a16:creationId xmlns:a16="http://schemas.microsoft.com/office/drawing/2014/main" id="{7CD23B0E-156C-9A0B-AB90-0D5B6855B91F}"/>
              </a:ext>
            </a:extLst>
          </p:cNvPr>
          <p:cNvSpPr>
            <a:spLocks noGrp="1"/>
          </p:cNvSpPr>
          <p:nvPr/>
        </p:nvSpPr>
        <p:spPr>
          <a:xfrm>
            <a:off x="10155411" y="183080"/>
            <a:ext cx="431466" cy="482600"/>
          </a:xfrm>
          <a:prstGeom prst="chevron">
            <a:avLst>
              <a:gd name="adj" fmla="val 54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54D9116-996F-1DCA-6637-5E1ED7F47350}"/>
              </a:ext>
            </a:extLst>
          </p:cNvPr>
          <p:cNvSpPr>
            <a:spLocks noGrp="1"/>
          </p:cNvSpPr>
          <p:nvPr/>
        </p:nvSpPr>
        <p:spPr>
          <a:xfrm>
            <a:off x="1212308" y="160839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chemeClr val="bg1"/>
                </a:solidFill>
                <a:latin typeface="方正大标宋_GBK"/>
                <a:ea typeface="方正大标宋_GBK"/>
                <a:cs typeface="方正大标宋_GBK"/>
              </a:rPr>
              <a:t>实验设置：用单通道 AEC 检验系统辨识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EDE0670-61D8-32B7-D608-85AB41BFFA5C}"/>
              </a:ext>
            </a:extLst>
          </p:cNvPr>
          <p:cNvSpPr>
            <a:spLocks noGrp="1"/>
          </p:cNvSpPr>
          <p:nvPr/>
        </p:nvSpPr>
        <p:spPr>
          <a:xfrm>
            <a:off x="5670550" y="1840768"/>
            <a:ext cx="5609475" cy="342265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srgbClr val="2B5895">
                <a:alpha val="8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38FBFB91-D179-F8C8-AE05-6CB94825F2CC}"/>
              </a:ext>
            </a:extLst>
          </p:cNvPr>
          <p:cNvSpPr>
            <a:spLocks noGrp="1"/>
          </p:cNvSpPr>
          <p:nvPr/>
        </p:nvSpPr>
        <p:spPr>
          <a:xfrm>
            <a:off x="-174544" y="6646985"/>
            <a:ext cx="7864882" cy="211015"/>
          </a:xfrm>
          <a:prstGeom prst="parallelogram">
            <a:avLst>
              <a:gd name="adj" fmla="val 3946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FD103AEB-0E26-46FA-9AF1-160CC35D5713}"/>
              </a:ext>
            </a:extLst>
          </p:cNvPr>
          <p:cNvSpPr>
            <a:spLocks noGrp="1"/>
          </p:cNvSpPr>
          <p:nvPr/>
        </p:nvSpPr>
        <p:spPr>
          <a:xfrm>
            <a:off x="7690338" y="6277086"/>
            <a:ext cx="410308" cy="594430"/>
          </a:xfrm>
          <a:prstGeom prst="parallelogram">
            <a:avLst>
              <a:gd name="adj" fmla="val 6072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642BFE74-7A4D-171E-B67D-40733887DE58}"/>
              </a:ext>
            </a:extLst>
          </p:cNvPr>
          <p:cNvSpPr>
            <a:spLocks noGrp="1"/>
          </p:cNvSpPr>
          <p:nvPr/>
        </p:nvSpPr>
        <p:spPr>
          <a:xfrm>
            <a:off x="8026278" y="6293056"/>
            <a:ext cx="4470522" cy="564944"/>
          </a:xfrm>
          <a:prstGeom prst="parallelogram">
            <a:avLst>
              <a:gd name="adj" fmla="val 415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latin typeface="华文楷体"/>
                <a:ea typeface="华文楷体"/>
                <a:cs typeface="华文楷体"/>
              </a:rPr>
              <a:t>AEC  ·  L=512</a:t>
            </a:r>
          </a:p>
        </p:txBody>
      </p:sp>
      <p:pic>
        <p:nvPicPr>
          <p:cNvPr id="59" name="图片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7102" y="740816"/>
            <a:ext cx="3849798" cy="2979720"/>
          </a:xfrm>
          <a:prstGeom prst="rect">
            <a:avLst/>
          </a:prstGeom>
        </p:spPr>
      </p:pic>
      <p:pic>
        <p:nvPicPr>
          <p:cNvPr id="60" name="图片 12"/>
          <p:cNvPicPr>
            <a:picLocks noChangeAspect="1"/>
          </p:cNvPicPr>
          <p:nvPr/>
        </p:nvPicPr>
        <p:blipFill>
          <a:blip r:embed="rId4"/>
          <a:srcRect l="8898" t="10768" r="7007" b="9521"/>
          <a:stretch>
            <a:fillRect/>
          </a:stretch>
        </p:blipFill>
        <p:spPr>
          <a:xfrm>
            <a:off x="547101" y="3705512"/>
            <a:ext cx="3849799" cy="2732993"/>
          </a:xfrm>
          <a:prstGeom prst="rect">
            <a:avLst/>
          </a:prstGeom>
        </p:spPr>
      </p:pic>
      <p:sp>
        <p:nvSpPr>
          <p:cNvPr id="41" name="Rectangle 6">
            <a:extLst>
              <a:ext uri="{FF2B5EF4-FFF2-40B4-BE49-F238E27FC236}">
                <a16:creationId xmlns:a16="http://schemas.microsoft.com/office/drawing/2014/main" id="{ABB79ECD-D6CF-6BE3-C90A-019899DAF2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  <p:sp>
        <p:nvSpPr>
          <p:cNvPr id="42" name="文本框 1">
            <a:extLst>
              <a:ext uri="{FF2B5EF4-FFF2-40B4-BE49-F238E27FC236}">
                <a16:creationId xmlns:a16="http://schemas.microsoft.com/office/drawing/2014/main" id="{5A538FCC-96EA-6A7A-3AE2-D5D497115627}"/>
              </a:ext>
            </a:extLst>
          </p:cNvPr>
          <p:cNvSpPr>
            <a:spLocks noGrp="1"/>
          </p:cNvSpPr>
          <p:nvPr/>
        </p:nvSpPr>
        <p:spPr>
          <a:xfrm>
            <a:off x="2529205" y="9554210"/>
            <a:ext cx="2640330" cy="180975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anchor="t">
            <a:spAutoFit/>
          </a:bodyPr>
          <a:lstStyle/>
          <a:p>
            <a:pPr algn="ctr">
              <a:buNone/>
            </a:pPr>
            <a:r>
              <a:rPr sz="1100">
                <a:latin typeface="宋体"/>
                <a:ea typeface="宋体"/>
                <a:cs typeface="宋体"/>
              </a:rPr>
              <a:t> </a:t>
            </a:r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56970D8C-7BF8-5846-1C39-2F89C2F6A6BC}"/>
              </a:ext>
            </a:extLst>
          </p:cNvPr>
          <p:cNvSpPr>
            <a:spLocks noGrp="1"/>
          </p:cNvSpPr>
          <p:nvPr/>
        </p:nvSpPr>
        <p:spPr>
          <a:xfrm rot="10800000" flipV="1">
            <a:off x="5822950" y="2171794"/>
            <a:ext cx="5061856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latin typeface="宋体"/>
                <a:ea typeface="宋体"/>
                <a:cs typeface="宋体"/>
              </a:rPr>
              <a:t>AEC 作为系统辨识用例：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宋体"/>
              <a:ea typeface="宋体"/>
              <a:cs typeface="宋体"/>
            </a:endParaRP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latin typeface="宋体"/>
                <a:ea typeface="宋体"/>
                <a:cs typeface="宋体"/>
              </a:rPr>
              <a:t>• L=512，fs=16 kHz；N=1024，50% overlap。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latin typeface="宋体"/>
                <a:ea typeface="宋体"/>
                <a:cs typeface="宋体"/>
              </a:rPr>
              <a:t>• RLS：λ=0.999，EBR=20 dB。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latin typeface="宋体"/>
                <a:ea typeface="宋体"/>
                <a:cs typeface="宋体"/>
              </a:rPr>
              <a:t>• 三种分析窗：rectangular / cosine / root-Hann。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latin typeface="宋体"/>
                <a:ea typeface="宋体"/>
                <a:cs typeface="宋体"/>
              </a:rPr>
              <a:t>• 两类合成窗：minimum-norm / minimum-distortion。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宋体"/>
              <a:ea typeface="宋体"/>
              <a:cs typeface="宋体"/>
            </a:endParaRP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latin typeface="宋体"/>
                <a:ea typeface="宋体"/>
                <a:cs typeface="宋体"/>
              </a:rPr>
              <a:t>评价：system distance + ERLE。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22F62A-3B5D-134E-025A-58FDC2F8EB00}"/>
              </a:ext>
            </a:extLst>
          </p:cNvPr>
          <p:cNvSpPr>
            <a:spLocks noGrp="1"/>
          </p:cNvSpPr>
          <p:nvPr/>
        </p:nvSpPr>
        <p:spPr>
          <a:xfrm>
            <a:off x="517832" y="110860"/>
            <a:ext cx="524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chemeClr val="bg1"/>
                </a:solidFill>
                <a:latin typeface="华文行楷"/>
                <a:ea typeface="华文行楷"/>
                <a:cs typeface="华文行楷"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3059232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F4D9D5E4-888F-4756-986B-303D29A562F3}"/>
              </a:ext>
            </a:extLst>
          </p:cNvPr>
          <p:cNvSpPr>
            <a:spLocks noGrp="1"/>
          </p:cNvSpPr>
          <p:nvPr/>
        </p:nvSpPr>
        <p:spPr>
          <a:xfrm flipH="1">
            <a:off x="978568" y="60960"/>
            <a:ext cx="278063" cy="244240"/>
          </a:xfrm>
          <a:prstGeom prst="triangle">
            <a:avLst>
              <a:gd name="adj" fmla="val 53237"/>
            </a:avLst>
          </a:prstGeom>
          <a:solidFill>
            <a:srgbClr val="2B5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8A549014-9AA2-43F1-B69F-0F49D104E49B}"/>
              </a:ext>
            </a:extLst>
          </p:cNvPr>
          <p:cNvSpPr>
            <a:spLocks noGrp="1"/>
          </p:cNvSpPr>
          <p:nvPr/>
        </p:nvSpPr>
        <p:spPr>
          <a:xfrm flipH="1">
            <a:off x="269039" y="64768"/>
            <a:ext cx="278063" cy="244240"/>
          </a:xfrm>
          <a:prstGeom prst="triangle">
            <a:avLst>
              <a:gd name="adj" fmla="val 53237"/>
            </a:avLst>
          </a:prstGeom>
          <a:solidFill>
            <a:srgbClr val="2B5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8C56AF5C-6205-45B4-B90E-C9546C8CA3F3}"/>
              </a:ext>
            </a:extLst>
          </p:cNvPr>
          <p:cNvSpPr>
            <a:spLocks noGrp="1"/>
          </p:cNvSpPr>
          <p:nvPr/>
        </p:nvSpPr>
        <p:spPr>
          <a:xfrm>
            <a:off x="-2" y="183080"/>
            <a:ext cx="9711487" cy="4826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7D13A8BF-D02E-4848-8E88-B93E18216CC7}"/>
              </a:ext>
            </a:extLst>
          </p:cNvPr>
          <p:cNvSpPr>
            <a:spLocks noGrp="1"/>
          </p:cNvSpPr>
          <p:nvPr/>
        </p:nvSpPr>
        <p:spPr>
          <a:xfrm rot="10800000">
            <a:off x="393700" y="65895"/>
            <a:ext cx="723900" cy="691570"/>
          </a:xfrm>
          <a:prstGeom prst="triangl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箭头: V 形 18">
            <a:extLst>
              <a:ext uri="{FF2B5EF4-FFF2-40B4-BE49-F238E27FC236}">
                <a16:creationId xmlns:a16="http://schemas.microsoft.com/office/drawing/2014/main" id="{A7B12869-7FB9-4C12-BB69-0386F2BDFD62}"/>
              </a:ext>
            </a:extLst>
          </p:cNvPr>
          <p:cNvSpPr>
            <a:spLocks noGrp="1"/>
          </p:cNvSpPr>
          <p:nvPr/>
        </p:nvSpPr>
        <p:spPr>
          <a:xfrm>
            <a:off x="9781954" y="183080"/>
            <a:ext cx="431466" cy="482600"/>
          </a:xfrm>
          <a:prstGeom prst="chevron">
            <a:avLst>
              <a:gd name="adj" fmla="val 54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箭头: V 形 19">
            <a:extLst>
              <a:ext uri="{FF2B5EF4-FFF2-40B4-BE49-F238E27FC236}">
                <a16:creationId xmlns:a16="http://schemas.microsoft.com/office/drawing/2014/main" id="{05B9BC0D-3AE9-4823-8739-45F9277DDB9F}"/>
              </a:ext>
            </a:extLst>
          </p:cNvPr>
          <p:cNvSpPr>
            <a:spLocks noGrp="1"/>
          </p:cNvSpPr>
          <p:nvPr/>
        </p:nvSpPr>
        <p:spPr>
          <a:xfrm>
            <a:off x="10155411" y="183080"/>
            <a:ext cx="431466" cy="482600"/>
          </a:xfrm>
          <a:prstGeom prst="chevron">
            <a:avLst>
              <a:gd name="adj" fmla="val 54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B0D7BF-0ED1-46E4-91AE-650BCC239684}"/>
              </a:ext>
            </a:extLst>
          </p:cNvPr>
          <p:cNvSpPr>
            <a:spLocks noGrp="1"/>
          </p:cNvSpPr>
          <p:nvPr/>
        </p:nvSpPr>
        <p:spPr>
          <a:xfrm>
            <a:off x="517832" y="110860"/>
            <a:ext cx="524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chemeClr val="bg1"/>
                </a:solidFill>
                <a:latin typeface="华文行楷"/>
                <a:ea typeface="华文行楷"/>
                <a:cs typeface="华文行楷"/>
              </a:rPr>
              <a:t>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9EA2AD-D8BF-4AE1-8F8D-7322CAD0C678}"/>
              </a:ext>
            </a:extLst>
          </p:cNvPr>
          <p:cNvSpPr>
            <a:spLocks noGrp="1"/>
          </p:cNvSpPr>
          <p:nvPr/>
        </p:nvSpPr>
        <p:spPr>
          <a:xfrm>
            <a:off x="1212308" y="160839"/>
            <a:ext cx="20313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chemeClr val="bg1"/>
                </a:solidFill>
                <a:latin typeface="方正大标宋_GBK"/>
                <a:ea typeface="方正大标宋_GBK"/>
                <a:cs typeface="方正大标宋_GBK"/>
              </a:rPr>
              <a:t>广义 WOLA 的性能随阶数上升而改善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5370FC6-358A-4403-8D2F-9800918AC1C6}"/>
              </a:ext>
            </a:extLst>
          </p:cNvPr>
          <p:cNvSpPr>
            <a:spLocks noGrp="1"/>
          </p:cNvSpPr>
          <p:nvPr/>
        </p:nvSpPr>
        <p:spPr>
          <a:xfrm>
            <a:off x="5735080" y="1117600"/>
            <a:ext cx="5729095" cy="49911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srgbClr val="2B5895">
                <a:alpha val="8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45F8BEB1-7FED-EADD-3732-7E548791C34C}"/>
              </a:ext>
            </a:extLst>
          </p:cNvPr>
          <p:cNvSpPr>
            <a:spLocks noGrp="1"/>
          </p:cNvSpPr>
          <p:nvPr/>
        </p:nvSpPr>
        <p:spPr>
          <a:xfrm>
            <a:off x="-174544" y="6646985"/>
            <a:ext cx="7864882" cy="211015"/>
          </a:xfrm>
          <a:prstGeom prst="parallelogram">
            <a:avLst>
              <a:gd name="adj" fmla="val 3946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3E799480-0CCE-8011-B7FD-4529BC94B6CF}"/>
              </a:ext>
            </a:extLst>
          </p:cNvPr>
          <p:cNvSpPr>
            <a:spLocks noGrp="1"/>
          </p:cNvSpPr>
          <p:nvPr/>
        </p:nvSpPr>
        <p:spPr>
          <a:xfrm>
            <a:off x="7690338" y="6277086"/>
            <a:ext cx="410308" cy="594430"/>
          </a:xfrm>
          <a:prstGeom prst="parallelogram">
            <a:avLst>
              <a:gd name="adj" fmla="val 6072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03F4371B-AFE8-9C8F-16E6-352028502490}"/>
              </a:ext>
            </a:extLst>
          </p:cNvPr>
          <p:cNvSpPr>
            <a:spLocks noGrp="1"/>
          </p:cNvSpPr>
          <p:nvPr/>
        </p:nvSpPr>
        <p:spPr>
          <a:xfrm>
            <a:off x="8026278" y="6293056"/>
            <a:ext cx="4470522" cy="564944"/>
          </a:xfrm>
          <a:prstGeom prst="parallelogram">
            <a:avLst>
              <a:gd name="adj" fmla="val 415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latin typeface="华文楷体"/>
                <a:ea typeface="华文楷体"/>
                <a:cs typeface="华文楷体"/>
              </a:rPr>
              <a:t>Evidence  ·  larger T</a:t>
            </a:r>
          </a:p>
        </p:txBody>
      </p:sp>
      <p:pic>
        <p:nvPicPr>
          <p:cNvPr id="60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42" y="722383"/>
            <a:ext cx="3895418" cy="2322449"/>
          </a:xfrm>
          <a:prstGeom prst="rect">
            <a:avLst/>
          </a:prstGeom>
        </p:spPr>
      </p:pic>
      <p:pic>
        <p:nvPicPr>
          <p:cNvPr id="61" name="图片 12"/>
          <p:cNvPicPr>
            <a:picLocks noChangeAspect="1"/>
          </p:cNvPicPr>
          <p:nvPr/>
        </p:nvPicPr>
        <p:blipFill>
          <a:blip r:embed="rId4"/>
          <a:srcRect l="4305" t="4445" r="5833"/>
          <a:stretch>
            <a:fillRect/>
          </a:stretch>
        </p:blipFill>
        <p:spPr>
          <a:xfrm>
            <a:off x="517832" y="3033445"/>
            <a:ext cx="4299039" cy="3428600"/>
          </a:xfrm>
          <a:prstGeom prst="rect">
            <a:avLst/>
          </a:prstGeom>
        </p:spPr>
      </p:pic>
      <p:sp>
        <p:nvSpPr>
          <p:cNvPr id="41" name="Rectangle 6">
            <a:extLst>
              <a:ext uri="{FF2B5EF4-FFF2-40B4-BE49-F238E27FC236}">
                <a16:creationId xmlns:a16="http://schemas.microsoft.com/office/drawing/2014/main" id="{B8816A37-A6B2-1804-F738-3D00721275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  <p:sp>
        <p:nvSpPr>
          <p:cNvPr id="42" name="文本框 1">
            <a:extLst>
              <a:ext uri="{FF2B5EF4-FFF2-40B4-BE49-F238E27FC236}">
                <a16:creationId xmlns:a16="http://schemas.microsoft.com/office/drawing/2014/main" id="{231C93A2-66A0-629E-F78C-CAA0428CD3AC}"/>
              </a:ext>
            </a:extLst>
          </p:cNvPr>
          <p:cNvSpPr>
            <a:spLocks noGrp="1"/>
          </p:cNvSpPr>
          <p:nvPr/>
        </p:nvSpPr>
        <p:spPr>
          <a:xfrm>
            <a:off x="2529205" y="9554210"/>
            <a:ext cx="2640330" cy="180975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anchor="t">
            <a:spAutoFit/>
          </a:bodyPr>
          <a:lstStyle/>
          <a:p>
            <a:pPr algn="ctr">
              <a:buNone/>
            </a:pPr>
            <a:r>
              <a:rPr sz="1100">
                <a:latin typeface="宋体"/>
                <a:ea typeface="宋体"/>
                <a:cs typeface="宋体"/>
              </a:rPr>
              <a:t> </a:t>
            </a:r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B2A85B2D-A98E-15F1-828E-2925C8949E44}"/>
              </a:ext>
            </a:extLst>
          </p:cNvPr>
          <p:cNvSpPr>
            <a:spLocks noGrp="1"/>
          </p:cNvSpPr>
          <p:nvPr/>
        </p:nvSpPr>
        <p:spPr>
          <a:xfrm rot="10800000" flipV="1">
            <a:off x="5969544" y="1231861"/>
            <a:ext cx="5099413" cy="44319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实验支持理论分析：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T 增大 → system distance 下降、ERLE 上升。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minimum-distortion 在各窗、各阶数下优于 minimum-norm。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矩形窗频率选择性弱，更易受混叠与收敛影响。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宋体"/>
              <a:ea typeface="宋体"/>
              <a:cs typeface="宋体"/>
            </a:endParaRP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要点：合成滤波器设计也是性能变量。</a:t>
            </a:r>
          </a:p>
        </p:txBody>
      </p:sp>
    </p:spTree>
    <p:extLst>
      <p:ext uri="{BB962C8B-B14F-4D97-AF65-F5344CB8AC3E}">
        <p14:creationId xmlns:p14="http://schemas.microsoft.com/office/powerpoint/2010/main" val="1965970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F4D9D5E4-888F-4756-986B-303D29A562F3}"/>
              </a:ext>
            </a:extLst>
          </p:cNvPr>
          <p:cNvSpPr>
            <a:spLocks noGrp="1"/>
          </p:cNvSpPr>
          <p:nvPr/>
        </p:nvSpPr>
        <p:spPr>
          <a:xfrm flipH="1">
            <a:off x="978568" y="60960"/>
            <a:ext cx="278063" cy="244240"/>
          </a:xfrm>
          <a:prstGeom prst="triangle">
            <a:avLst>
              <a:gd name="adj" fmla="val 53237"/>
            </a:avLst>
          </a:prstGeom>
          <a:solidFill>
            <a:srgbClr val="2B5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8A549014-9AA2-43F1-B69F-0F49D104E49B}"/>
              </a:ext>
            </a:extLst>
          </p:cNvPr>
          <p:cNvSpPr>
            <a:spLocks noGrp="1"/>
          </p:cNvSpPr>
          <p:nvPr/>
        </p:nvSpPr>
        <p:spPr>
          <a:xfrm flipH="1">
            <a:off x="269039" y="64768"/>
            <a:ext cx="278063" cy="244240"/>
          </a:xfrm>
          <a:prstGeom prst="triangle">
            <a:avLst>
              <a:gd name="adj" fmla="val 53237"/>
            </a:avLst>
          </a:prstGeom>
          <a:solidFill>
            <a:srgbClr val="2B58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8C56AF5C-6205-45B4-B90E-C9546C8CA3F3}"/>
              </a:ext>
            </a:extLst>
          </p:cNvPr>
          <p:cNvSpPr>
            <a:spLocks noGrp="1"/>
          </p:cNvSpPr>
          <p:nvPr/>
        </p:nvSpPr>
        <p:spPr>
          <a:xfrm>
            <a:off x="-2" y="183080"/>
            <a:ext cx="9711487" cy="4826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7D13A8BF-D02E-4848-8E88-B93E18216CC7}"/>
              </a:ext>
            </a:extLst>
          </p:cNvPr>
          <p:cNvSpPr>
            <a:spLocks noGrp="1"/>
          </p:cNvSpPr>
          <p:nvPr/>
        </p:nvSpPr>
        <p:spPr>
          <a:xfrm rot="10800000">
            <a:off x="393700" y="65895"/>
            <a:ext cx="723900" cy="691570"/>
          </a:xfrm>
          <a:prstGeom prst="triangl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箭头: V 形 18">
            <a:extLst>
              <a:ext uri="{FF2B5EF4-FFF2-40B4-BE49-F238E27FC236}">
                <a16:creationId xmlns:a16="http://schemas.microsoft.com/office/drawing/2014/main" id="{A7B12869-7FB9-4C12-BB69-0386F2BDFD62}"/>
              </a:ext>
            </a:extLst>
          </p:cNvPr>
          <p:cNvSpPr>
            <a:spLocks noGrp="1"/>
          </p:cNvSpPr>
          <p:nvPr/>
        </p:nvSpPr>
        <p:spPr>
          <a:xfrm>
            <a:off x="9781954" y="183080"/>
            <a:ext cx="431466" cy="482600"/>
          </a:xfrm>
          <a:prstGeom prst="chevron">
            <a:avLst>
              <a:gd name="adj" fmla="val 54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箭头: V 形 19">
            <a:extLst>
              <a:ext uri="{FF2B5EF4-FFF2-40B4-BE49-F238E27FC236}">
                <a16:creationId xmlns:a16="http://schemas.microsoft.com/office/drawing/2014/main" id="{05B9BC0D-3AE9-4823-8739-45F9277DDB9F}"/>
              </a:ext>
            </a:extLst>
          </p:cNvPr>
          <p:cNvSpPr>
            <a:spLocks noGrp="1"/>
          </p:cNvSpPr>
          <p:nvPr/>
        </p:nvSpPr>
        <p:spPr>
          <a:xfrm>
            <a:off x="10155411" y="183080"/>
            <a:ext cx="431466" cy="482600"/>
          </a:xfrm>
          <a:prstGeom prst="chevron">
            <a:avLst>
              <a:gd name="adj" fmla="val 54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B0D7BF-0ED1-46E4-91AE-650BCC239684}"/>
              </a:ext>
            </a:extLst>
          </p:cNvPr>
          <p:cNvSpPr>
            <a:spLocks noGrp="1"/>
          </p:cNvSpPr>
          <p:nvPr/>
        </p:nvSpPr>
        <p:spPr>
          <a:xfrm>
            <a:off x="517832" y="110860"/>
            <a:ext cx="524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chemeClr val="bg1"/>
                </a:solidFill>
                <a:latin typeface="华文行楷"/>
                <a:ea typeface="华文行楷"/>
                <a:cs typeface="华文行楷"/>
              </a:rPr>
              <a:t>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9EA2AD-D8BF-4AE1-8F8D-7322CAD0C678}"/>
              </a:ext>
            </a:extLst>
          </p:cNvPr>
          <p:cNvSpPr>
            <a:spLocks noGrp="1"/>
          </p:cNvSpPr>
          <p:nvPr/>
        </p:nvSpPr>
        <p:spPr>
          <a:xfrm>
            <a:off x="1212308" y="160839"/>
            <a:ext cx="20313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chemeClr val="bg1"/>
                </a:solidFill>
                <a:latin typeface="方正大标宋_GBK"/>
                <a:ea typeface="方正大标宋_GBK"/>
                <a:cs typeface="方正大标宋_GBK"/>
              </a:rPr>
              <a:t>PT-WOLA 把性能—复杂度变成可调旋钮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5370FC6-358A-4403-8D2F-9800918AC1C6}"/>
              </a:ext>
            </a:extLst>
          </p:cNvPr>
          <p:cNvSpPr>
            <a:spLocks noGrp="1"/>
          </p:cNvSpPr>
          <p:nvPr/>
        </p:nvSpPr>
        <p:spPr>
          <a:xfrm>
            <a:off x="5735080" y="1117600"/>
            <a:ext cx="5729095" cy="49911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srgbClr val="2B5895">
                <a:alpha val="8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45F8BEB1-7FED-EADD-3732-7E548791C34C}"/>
              </a:ext>
            </a:extLst>
          </p:cNvPr>
          <p:cNvSpPr>
            <a:spLocks noGrp="1"/>
          </p:cNvSpPr>
          <p:nvPr/>
        </p:nvSpPr>
        <p:spPr>
          <a:xfrm>
            <a:off x="-174544" y="6646985"/>
            <a:ext cx="7864882" cy="211015"/>
          </a:xfrm>
          <a:prstGeom prst="parallelogram">
            <a:avLst>
              <a:gd name="adj" fmla="val 3946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3E799480-0CCE-8011-B7FD-4529BC94B6CF}"/>
              </a:ext>
            </a:extLst>
          </p:cNvPr>
          <p:cNvSpPr>
            <a:spLocks noGrp="1"/>
          </p:cNvSpPr>
          <p:nvPr/>
        </p:nvSpPr>
        <p:spPr>
          <a:xfrm>
            <a:off x="7690338" y="6277086"/>
            <a:ext cx="410308" cy="594430"/>
          </a:xfrm>
          <a:prstGeom prst="parallelogram">
            <a:avLst>
              <a:gd name="adj" fmla="val 6072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03F4371B-AFE8-9C8F-16E6-352028502490}"/>
              </a:ext>
            </a:extLst>
          </p:cNvPr>
          <p:cNvSpPr>
            <a:spLocks noGrp="1"/>
          </p:cNvSpPr>
          <p:nvPr/>
        </p:nvSpPr>
        <p:spPr>
          <a:xfrm>
            <a:off x="8026278" y="6293056"/>
            <a:ext cx="4470522" cy="564944"/>
          </a:xfrm>
          <a:prstGeom prst="parallelogram">
            <a:avLst>
              <a:gd name="adj" fmla="val 415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latin typeface="华文楷体"/>
                <a:ea typeface="华文楷体"/>
                <a:cs typeface="华文楷体"/>
              </a:rPr>
              <a:t>性能 / 复杂度</a:t>
            </a:r>
          </a:p>
        </p:txBody>
      </p:sp>
      <p:pic>
        <p:nvPicPr>
          <p:cNvPr id="60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42" y="722383"/>
            <a:ext cx="3895418" cy="2322449"/>
          </a:xfrm>
          <a:prstGeom prst="rect">
            <a:avLst/>
          </a:prstGeom>
        </p:spPr>
      </p:pic>
      <p:pic>
        <p:nvPicPr>
          <p:cNvPr id="61" name="图片 12"/>
          <p:cNvPicPr>
            <a:picLocks noChangeAspect="1"/>
          </p:cNvPicPr>
          <p:nvPr/>
        </p:nvPicPr>
        <p:blipFill>
          <a:blip r:embed="rId4"/>
          <a:srcRect l="4305" t="4445" r="5833"/>
          <a:stretch>
            <a:fillRect/>
          </a:stretch>
        </p:blipFill>
        <p:spPr>
          <a:xfrm>
            <a:off x="517832" y="3033445"/>
            <a:ext cx="4299039" cy="3428600"/>
          </a:xfrm>
          <a:prstGeom prst="rect">
            <a:avLst/>
          </a:prstGeom>
        </p:spPr>
      </p:pic>
      <p:sp>
        <p:nvSpPr>
          <p:cNvPr id="41" name="Rectangle 6">
            <a:extLst>
              <a:ext uri="{FF2B5EF4-FFF2-40B4-BE49-F238E27FC236}">
                <a16:creationId xmlns:a16="http://schemas.microsoft.com/office/drawing/2014/main" id="{B8816A37-A6B2-1804-F738-3D00721275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  <p:sp>
        <p:nvSpPr>
          <p:cNvPr id="42" name="文本框 1">
            <a:extLst>
              <a:ext uri="{FF2B5EF4-FFF2-40B4-BE49-F238E27FC236}">
                <a16:creationId xmlns:a16="http://schemas.microsoft.com/office/drawing/2014/main" id="{231C93A2-66A0-629E-F78C-CAA0428CD3AC}"/>
              </a:ext>
            </a:extLst>
          </p:cNvPr>
          <p:cNvSpPr>
            <a:spLocks noGrp="1"/>
          </p:cNvSpPr>
          <p:nvPr/>
        </p:nvSpPr>
        <p:spPr>
          <a:xfrm>
            <a:off x="2529205" y="9554210"/>
            <a:ext cx="2640330" cy="180975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anchor="t">
            <a:spAutoFit/>
          </a:bodyPr>
          <a:lstStyle/>
          <a:p>
            <a:pPr algn="ctr">
              <a:buNone/>
            </a:pPr>
            <a:r>
              <a:rPr sz="1100">
                <a:latin typeface="宋体"/>
                <a:ea typeface="宋体"/>
                <a:cs typeface="宋体"/>
              </a:rPr>
              <a:t> </a:t>
            </a:r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B2A85B2D-A98E-15F1-828E-2925C8949E44}"/>
              </a:ext>
            </a:extLst>
          </p:cNvPr>
          <p:cNvSpPr>
            <a:spLocks noGrp="1"/>
          </p:cNvSpPr>
          <p:nvPr/>
        </p:nvSpPr>
        <p:spPr>
          <a:xfrm rot="10800000" flipV="1">
            <a:off x="5969544" y="1231861"/>
            <a:ext cx="5099413" cy="44319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相同总滤波器长度下，PT-WOLA 可逼近 generalized WOLA。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cosine：少量 cross-terms 即可。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rectangular：增加 cross-terms 能压低混叠，但受失真瓶颈限制。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• root-Hann：minimum-distortion 更易逼近广义方案。</a:t>
            </a: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宋体"/>
              <a:ea typeface="宋体"/>
              <a:cs typeface="宋体"/>
            </a:endParaRPr>
          </a:p>
          <a:p>
            <a:pPr marL="0" indent="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宋体"/>
                <a:ea typeface="宋体"/>
                <a:cs typeface="宋体"/>
              </a:rPr>
              <a:t>结论：性能—复杂度可调。</a:t>
            </a:r>
          </a:p>
        </p:txBody>
      </p:sp>
    </p:spTree>
    <p:extLst>
      <p:ext uri="{BB962C8B-B14F-4D97-AF65-F5344CB8AC3E}">
        <p14:creationId xmlns:p14="http://schemas.microsoft.com/office/powerpoint/2010/main" val="1965970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54921" y="1"/>
            <a:ext cx="5152404" cy="687199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0417AB0-F492-41B6-91B8-D1253A7CAB7D}"/>
              </a:ext>
            </a:extLst>
          </p:cNvPr>
          <p:cNvSpPr>
            <a:spLocks noGrp="1"/>
          </p:cNvSpPr>
          <p:nvPr/>
        </p:nvSpPr>
        <p:spPr>
          <a:xfrm>
            <a:off x="-31995" y="0"/>
            <a:ext cx="12239320" cy="6871993"/>
          </a:xfrm>
          <a:prstGeom prst="rect">
            <a:avLst/>
          </a:prstGeom>
          <a:gradFill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B5895">
                  <a:lumMod val="100000"/>
                </a:srgbClr>
              </a:gs>
              <a:gs pos="36000">
                <a:srgbClr val="1564AB"/>
              </a:gs>
              <a:gs pos="62000">
                <a:schemeClr val="accent5"/>
              </a:gs>
              <a:gs pos="81000">
                <a:schemeClr val="accent1">
                  <a:lumMod val="45000"/>
                  <a:lumOff val="55000"/>
                  <a:alpha val="26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PA_文本框 14">
            <a:extLst>
              <a:ext uri="{FF2B5EF4-FFF2-40B4-BE49-F238E27FC236}">
                <a16:creationId xmlns:a16="http://schemas.microsoft.com/office/drawing/2014/main" id="{241C01BF-464E-425D-8A9C-D267261A5295}"/>
              </a:ext>
            </a:extLst>
          </p:cNvPr>
          <p:cNvSpPr>
            <a:spLocks noGrp="1"/>
          </p:cNvSpPr>
          <p:nvPr/>
        </p:nvSpPr>
        <p:spPr>
          <a:xfrm>
            <a:off x="263337" y="2290686"/>
            <a:ext cx="79108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7200" b="1" i="0" u="none" cap="none">
                <a:ln>
                  <a:noFill/>
                </a:ln>
                <a:solidFill>
                  <a:prstClr val="white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华文楷体"/>
                <a:ea typeface="华文楷体"/>
                <a:cs typeface="华文楷体"/>
              </a:rPr>
              <a:t>谢谢聆听！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BB482C07-155F-4FB8-B353-8D7DA593F256}"/>
              </a:ext>
            </a:extLst>
          </p:cNvPr>
          <p:cNvSpPr>
            <a:spLocks noGrp="1"/>
          </p:cNvSpPr>
          <p:nvPr/>
        </p:nvSpPr>
        <p:spPr>
          <a:xfrm>
            <a:off x="328393" y="5058235"/>
            <a:ext cx="7368988" cy="0"/>
          </a:xfrm>
          <a:prstGeom prst="line">
            <a:avLst/>
          </a:prstGeom>
          <a:ln w="19050">
            <a:gradFill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0000">
                  <a:schemeClr val="bg1"/>
                </a:gs>
                <a:gs pos="79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AF10AE-9F80-916D-CF0B-EA1DD519CC8D}"/>
              </a:ext>
            </a:extLst>
          </p:cNvPr>
          <p:cNvSpPr>
            <a:spLocks noGrp="1"/>
          </p:cNvSpPr>
          <p:nvPr/>
        </p:nvSpPr>
        <p:spPr>
          <a:xfrm>
            <a:off x="1359500" y="5371553"/>
            <a:ext cx="446905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50000"/>
              </a:lnSpc>
              <a:buNone/>
            </a:pPr>
            <a:r>
              <a:rPr sz="2400" b="1">
                <a:solidFill>
                  <a:schemeClr val="bg1"/>
                </a:solidFill>
                <a:latin typeface="华文中宋"/>
                <a:ea typeface="华文中宋"/>
                <a:cs typeface="华文中宋"/>
              </a:rPr>
              <a:t>组会论文汇报  ·  欢迎讨论</a:t>
            </a:r>
          </a:p>
        </p:txBody>
      </p:sp>
      <p:pic>
        <p:nvPicPr>
          <p:cNvPr id="29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82" y="10645"/>
            <a:ext cx="5616672" cy="119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230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</Words>
  <Application>Microsoft Office PowerPoint</Application>
  <DocSecurity>0</DocSecurity>
  <PresentationFormat>宽屏</PresentationFormat>
  <Paragraphs>119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等线</vt:lpstr>
      <vt:lpstr>等线 Light</vt:lpstr>
      <vt:lpstr>方正大标宋_GBK</vt:lpstr>
      <vt:lpstr>华文楷体</vt:lpstr>
      <vt:lpstr>华文新魏</vt:lpstr>
      <vt:lpstr>华文行楷</vt:lpstr>
      <vt:lpstr>华文中宋</vt:lpstr>
      <vt:lpstr>宋体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yueqian zhang</cp:lastModifiedBy>
  <cp:revision>1</cp:revision>
  <dcterms:created xsi:type="dcterms:W3CDTF">2026-07-12T11:35:33Z</dcterms:created>
  <dcterms:modified xsi:type="dcterms:W3CDTF">2026-07-12T14:00:15Z</dcterms:modified>
</cp:coreProperties>
</file>